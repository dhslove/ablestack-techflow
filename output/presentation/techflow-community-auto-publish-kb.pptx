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bd5b78080c4d52" /><Relationship Type="http://schemas.openxmlformats.org/officeDocument/2006/relationships/extended-properties" Target="/docProps/app.xml" Id="R79d5e0ec80cc4df0" /><Relationship Type="http://schemas.openxmlformats.org/officeDocument/2006/relationships/officeDocument" Target="/ppt/presentation.xml" Id="Re791c2081d76456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ef79fe1a57744ec"/>
  </p:sldMasterIdLst>
  <p:notesMasterIdLst>
    <p:notesMasterId xmlns:r="http://schemas.openxmlformats.org/officeDocument/2006/relationships" r:id="R3941efff966a42db"/>
  </p:notesMasterIdLst>
  <p:sldIdLst>
    <p:sldId xmlns:r="http://schemas.openxmlformats.org/officeDocument/2006/relationships" id="256" r:id="R6ffda805ea4f4356"/>
    <p:sldId xmlns:r="http://schemas.openxmlformats.org/officeDocument/2006/relationships" id="257" r:id="R26aff7be61e0464b"/>
    <p:sldId xmlns:r="http://schemas.openxmlformats.org/officeDocument/2006/relationships" id="258" r:id="Rf0c6ce9628494bde"/>
    <p:sldId xmlns:r="http://schemas.openxmlformats.org/officeDocument/2006/relationships" id="259" r:id="Rebfa75753fb348ba"/>
    <p:sldId xmlns:r="http://schemas.openxmlformats.org/officeDocument/2006/relationships" id="260" r:id="Rc7e7f5e0bc89478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c7655f0107d4b0b" /><Relationship Type="http://schemas.openxmlformats.org/officeDocument/2006/relationships/slideMaster" Target="/ppt/slideMasters/slideMaster1.xml" Id="R0ef79fe1a57744ec" /><Relationship Type="http://schemas.openxmlformats.org/officeDocument/2006/relationships/notesMaster" Target="/ppt/notesMasters/notesMaster1.xml" Id="R3941efff966a42db" /><Relationship Type="http://schemas.openxmlformats.org/officeDocument/2006/relationships/presProps" Target="/ppt/presProps.xml" Id="Rb41c570c1ac845f5" /><Relationship Type="http://schemas.openxmlformats.org/officeDocument/2006/relationships/tableStyles" Target="/ppt/tableStyles.xml" Id="R8ac45f46ca404da9" /><Relationship Type="http://schemas.openxmlformats.org/officeDocument/2006/relationships/slide" Target="/ppt/slides/slide1.xml" Id="R6ffda805ea4f4356" /><Relationship Type="http://schemas.openxmlformats.org/officeDocument/2006/relationships/slide" Target="/ppt/slides/slide2.xml" Id="R26aff7be61e0464b" /><Relationship Type="http://schemas.openxmlformats.org/officeDocument/2006/relationships/slide" Target="/ppt/slides/slide3.xml" Id="Rf0c6ce9628494bde" /><Relationship Type="http://schemas.openxmlformats.org/officeDocument/2006/relationships/slide" Target="/ppt/slides/slide4.xml" Id="Rebfa75753fb348ba" /><Relationship Type="http://schemas.openxmlformats.org/officeDocument/2006/relationships/slide" Target="/ppt/slides/slide5.xml" Id="Rc7e7f5e0bc89478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bde41496e42148b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fcbed82ffb749ba" /><Relationship Type="http://schemas.openxmlformats.org/officeDocument/2006/relationships/notesMaster" Target="/ppt/notesMasters/notesMaster1.xml" Id="R6a73d496e4744b9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02617564f054093" /><Relationship Type="http://schemas.openxmlformats.org/officeDocument/2006/relationships/notesMaster" Target="/ppt/notesMasters/notesMaster1.xml" Id="R1b8f841ed99e49d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13f368a26984295" /><Relationship Type="http://schemas.openxmlformats.org/officeDocument/2006/relationships/notesMaster" Target="/ppt/notesMasters/notesMaster1.xml" Id="R2dfcd8ceb1504ca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05e320bcf85476e" /><Relationship Type="http://schemas.openxmlformats.org/officeDocument/2006/relationships/notesMaster" Target="/ppt/notesMasters/notesMaster1.xml" Id="Rb83890398b6a494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53248185e5e41cb" /><Relationship Type="http://schemas.openxmlformats.org/officeDocument/2006/relationships/notesMaster" Target="/ppt/notesMasters/notesMaster1.xml" Id="R984bec025f5644f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docs/adr/0010-community-auto-publish-knowledge-base.md</a:t>
            </a:r>
          </a:p>
          <a:p xmlns:a="http://schemas.openxmlformats.org/drawingml/2006/main">
            <a:r>
              <a:t>- docs/plans/issue-69-community-auto-publish-kb-design.md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docs/runbooks/community-conversation.md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docs/reports/issue-69-community-auto-publish-kb-validation.md#3.7</a:t>
            </a:r>
          </a:p>
          <a:p xmlns:a="http://schemas.openxmlformats.org/drawingml/2006/main">
            <a:r>
              <a:t>- https://community.ablecloud.io/d/167/384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docs/reports/issue-69-community-auto-publish-kb-validation.md#6</a:t>
            </a:r>
          </a:p>
          <a:p xmlns:a="http://schemas.openxmlformats.org/drawingml/2006/main">
            <a:r>
              <a:t>- docs/reports/issue-69-community-auto-publish-kb-validation.md#7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8cd7a01db9441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648aa3b3704a42" /><Relationship Type="http://schemas.openxmlformats.org/officeDocument/2006/relationships/slideLayout" Target="/ppt/slideLayouts/slideLayout1.xml" Id="R244ead8a948b480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4ead8a948b480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1a42783ee44f21" /><Relationship Type="http://schemas.openxmlformats.org/officeDocument/2006/relationships/notesSlide" Target="/ppt/notesSlides/notesSlide1.xml" Id="Rfff27e4da281407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b243dac6e14efc" /><Relationship Type="http://schemas.openxmlformats.org/officeDocument/2006/relationships/notesSlide" Target="/ppt/notesSlides/notesSlide2.xml" Id="R94a263137ec242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e03e77c3d54886" /><Relationship Type="http://schemas.openxmlformats.org/officeDocument/2006/relationships/notesSlide" Target="/ppt/notesSlides/notesSlide3.xml" Id="Rfd69dbe1f4204bd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272d903c754e50" /><Relationship Type="http://schemas.openxmlformats.org/officeDocument/2006/relationships/notesSlide" Target="/ppt/notesSlides/notesSlide4.xml" Id="R4a39a64b94e7489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2631dbea9d4a97" /><Relationship Type="http://schemas.openxmlformats.org/officeDocument/2006/relationships/notesSlide" Target="/ppt/notesSlides/notesSlide5.xml" Id="R46834f5716fe48f6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background">
            <a:extLst xmlns:a="http://schemas.openxmlformats.org/drawingml/2006/main">
              <a:ext uri="{FF2B5EF4-FFF2-40B4-BE49-F238E27FC236}">
                <a16:creationId xmlns:a16="http://schemas.microsoft.com/office/drawing/2014/main" id="{071198FD-D0FF-4295-A118-504CFD70C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over">
            <a:extLst xmlns:a="http://schemas.openxmlformats.org/drawingml/2006/main">
              <a:ext uri="{FF2B5EF4-FFF2-40B4-BE49-F238E27FC236}">
                <a16:creationId xmlns:a16="http://schemas.microsoft.com/office/drawing/2014/main" id="{9E771994-F286-4E23-9D14-C326256D6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6D03BB11-F7B2-42F8-A0FF-81583C78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60960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ABLESTACK TECHFLOW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CC0F9C11-F9EE-4D4E-82B2-185D06967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28750"/>
            <a:ext cx="10477500" cy="1828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3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3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Community 자동 답변과
최종 솔루션 Knowledge Base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80FD9982-AD77-4FC4-8763-BA2965CBF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695700"/>
            <a:ext cx="981075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승인 대기 제거 · 쉬운 대화 · KB 최종 솔루션</a:t>
            </a:r>
          </a:p>
        </p:txBody>
      </p:sp>
      <p:sp>
        <p:nvSpPr>
          <p:cNvPr id="6" name="result">
            <a:extLst xmlns:a="http://schemas.openxmlformats.org/drawingml/2006/main">
              <a:ext uri="{FF2B5EF4-FFF2-40B4-BE49-F238E27FC236}">
                <a16:creationId xmlns:a16="http://schemas.microsoft.com/office/drawing/2014/main" id="{F83E2449-A543-466F-975A-CE7C62717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9650"/>
            <a:ext cx="41910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>
            <a:noFill/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6B2DE202-B305-449F-A6C1-1D56EB8D8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848100" cy="495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9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9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0.14.6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DF64BD65-CA37-4AE0-BD98-BF01746AF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6115050"/>
            <a:ext cx="37147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Issue #69 · 2026-08-14</a:t>
            </a:r>
          </a:p>
        </p:txBody>
      </p:sp>
    </p:spTree>
    <p:extLst>
      <p:ext uri="{BB962C8B-B14F-4D97-AF65-F5344CB8AC3E}">
        <p14:creationId xmlns:p14="http://schemas.microsoft.com/office/powerpoint/2010/main" val="139103400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background">
            <a:extLst xmlns:a="http://schemas.openxmlformats.org/drawingml/2006/main">
              <a:ext uri="{FF2B5EF4-FFF2-40B4-BE49-F238E27FC236}">
                <a16:creationId xmlns:a16="http://schemas.microsoft.com/office/drawing/2014/main" id="{E7025D83-6883-48AC-AE74-3DF4A79D1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A387A7F9-B694-4F06-9D8B-8A91CE3F7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진행 답변과 최종 지식 문서를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E7DDFE15-36B8-476F-979C-FB5F3A08A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CEFCBF23-E139-4BA6-A73A-BFF5897AA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5" name="before">
            <a:extLst xmlns:a="http://schemas.openxmlformats.org/drawingml/2006/main">
              <a:ext uri="{FF2B5EF4-FFF2-40B4-BE49-F238E27FC236}">
                <a16:creationId xmlns:a16="http://schemas.microsoft.com/office/drawing/2014/main" id="{01032B4A-9D50-4141-9D08-9899593F4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EE2E2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89D0DC74-5646-45EA-ACF4-C14216EE1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이전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2919D984-3536-45E1-805D-4B8A4CD6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고정 5개 섹션
관리자 승인 대기
Chat 승인 명령
답변 지연</a:t>
            </a:r>
          </a:p>
        </p:txBody>
      </p:sp>
      <p:cxnSp>
        <p:nvCxnSpPr>
          <p:cNvPr id="24" name="arrow-418-340"/>
          <p:cNvCxnSpPr/>
          <p:nvPr/>
        </p:nvCxnSpPr>
        <p:spPr>
          <a:xfrm xmlns:a="http://schemas.openxmlformats.org/drawingml/2006/main">
            <a:off x="398145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9" name="ongoing">
            <a:extLst xmlns:a="http://schemas.openxmlformats.org/drawingml/2006/main">
              <a:ext uri="{FF2B5EF4-FFF2-40B4-BE49-F238E27FC236}">
                <a16:creationId xmlns:a16="http://schemas.microsoft.com/office/drawing/2014/main" id="{06F70008-B561-46E7-ADC8-AAF46E9B8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1657350"/>
            <a:ext cx="314325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E0025848-F0E5-4EF9-B080-812B2CC0A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866900"/>
            <a:ext cx="2686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진행 중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34AC3052-2990-4151-BBD0-B0E3357A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476500"/>
            <a:ext cx="2686050" cy="1752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해결책과 CLI 우선
명령은 코드 블록
모든 사람의 후속 질문
반복 답변 게시 차단</a:t>
            </a:r>
          </a:p>
        </p:txBody>
      </p:sp>
      <p:cxnSp>
        <p:nvCxnSpPr>
          <p:cNvPr id="28" name="arrow-892-340"/>
          <p:cNvCxnSpPr/>
          <p:nvPr/>
        </p:nvCxnSpPr>
        <p:spPr>
          <a:xfrm xmlns:a="http://schemas.openxmlformats.org/drawingml/2006/main">
            <a:off x="8496300" y="3238500"/>
            <a:ext cx="87630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3" name="final">
            <a:extLst xmlns:a="http://schemas.openxmlformats.org/drawingml/2006/main">
              <a:ext uri="{FF2B5EF4-FFF2-40B4-BE49-F238E27FC236}">
                <a16:creationId xmlns:a16="http://schemas.microsoft.com/office/drawing/2014/main" id="{867D632A-631B-4876-AE9F-8E12696F4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57350"/>
            <a:ext cx="1981200" cy="3143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59EB9D27-A0EA-48A4-9AF8-830B0206B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866900"/>
            <a:ext cx="1714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7165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025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025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해결 후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48649248-49FE-4F63-B73B-0994AA16F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647950"/>
            <a:ext cx="1714500" cy="1352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9984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선택 답변 중심
Knowledge Base
최종 솔루션 지정</a:t>
            </a:r>
          </a:p>
        </p:txBody>
      </p:sp>
      <p:sp>
        <p:nvSpPr>
          <p:cNvPr id="16" name="text">
            <a:extLst xmlns:a="http://schemas.openxmlformats.org/drawingml/2006/main">
              <a:ext uri="{FF2B5EF4-FFF2-40B4-BE49-F238E27FC236}">
                <a16:creationId xmlns:a16="http://schemas.microsoft.com/office/drawing/2014/main" id="{4100AAEE-EB05-43BA-AA01-E188BD54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5219700"/>
            <a:ext cx="9829800" cy="514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75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75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Chat은 게시·실패·KB 최종 지정 상태를 관찰합니다</a:t>
            </a:r>
          </a:p>
        </p:txBody>
      </p:sp>
    </p:spTree>
    <p:extLst>
      <p:ext uri="{BB962C8B-B14F-4D97-AF65-F5344CB8AC3E}">
        <p14:creationId xmlns:p14="http://schemas.microsoft.com/office/powerpoint/2010/main" val="1595303102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background">
            <a:extLst xmlns:a="http://schemas.openxmlformats.org/drawingml/2006/main">
              <a:ext uri="{FF2B5EF4-FFF2-40B4-BE49-F238E27FC236}">
                <a16:creationId xmlns:a16="http://schemas.microsoft.com/office/drawing/2014/main" id="{CF2EA1DD-5ECA-4D4B-BDB4-03860199C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71904170-54CD-4A6A-A54F-7C0EAAB5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질문부터 최종 솔루션까지 한 Conversation으로 이어집니다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16B48977-0613-4083-985F-719D8C378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3011BA40-FE13-4BB5-B587-90A1C63B0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cxnSp>
        <p:nvCxnSpPr>
          <p:cNvPr id="30" name="arrow-272-320"/>
          <p:cNvCxnSpPr/>
          <p:nvPr/>
        </p:nvCxnSpPr>
        <p:spPr>
          <a:xfrm xmlns:a="http://schemas.openxmlformats.org/drawingml/2006/main">
            <a:off x="25908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6" name="flow-0">
            <a:extLst xmlns:a="http://schemas.openxmlformats.org/drawingml/2006/main">
              <a:ext uri="{FF2B5EF4-FFF2-40B4-BE49-F238E27FC236}">
                <a16:creationId xmlns:a16="http://schemas.microsoft.com/office/drawing/2014/main" id="{EED86E3A-2CE3-42C6-ACC2-7BE13B63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07693CBA-7998-466D-9A5B-4FF83E00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1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BC4F867D-76C6-4840-BB12-C1CEF3583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질문·첨부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2348ED4-E3E7-4EFD-9217-648896A33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모든 참여자
첨부 자료</a:t>
            </a:r>
          </a:p>
        </p:txBody>
      </p:sp>
      <p:cxnSp>
        <p:nvCxnSpPr>
          <p:cNvPr id="35" name="arrow-540-320"/>
          <p:cNvCxnSpPr/>
          <p:nvPr/>
        </p:nvCxnSpPr>
        <p:spPr>
          <a:xfrm xmlns:a="http://schemas.openxmlformats.org/drawingml/2006/main">
            <a:off x="51435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1" name="flow-1">
            <a:extLst xmlns:a="http://schemas.openxmlformats.org/drawingml/2006/main">
              <a:ext uri="{FF2B5EF4-FFF2-40B4-BE49-F238E27FC236}">
                <a16:creationId xmlns:a16="http://schemas.microsoft.com/office/drawing/2014/main" id="{08330289-421C-44CE-B559-DC5E4995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2" name="text">
            <a:extLst xmlns:a="http://schemas.openxmlformats.org/drawingml/2006/main">
              <a:ext uri="{FF2B5EF4-FFF2-40B4-BE49-F238E27FC236}">
                <a16:creationId xmlns:a16="http://schemas.microsoft.com/office/drawing/2014/main" id="{71E7FF8A-DF9B-4D1F-98E8-B37E33E21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</a:t>
            </a:r>
          </a:p>
        </p:txBody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191EBA78-336F-4990-9643-577A3D662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자동 답변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BA1120F3-2E08-4B69-9A43-16CCD5F7B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쉬운 설명
CLI 코드 블록</a:t>
            </a:r>
          </a:p>
        </p:txBody>
      </p:sp>
      <p:cxnSp>
        <p:nvCxnSpPr>
          <p:cNvPr id="40" name="arrow-808-320"/>
          <p:cNvCxnSpPr/>
          <p:nvPr/>
        </p:nvCxnSpPr>
        <p:spPr>
          <a:xfrm xmlns:a="http://schemas.openxmlformats.org/drawingml/2006/main">
            <a:off x="7696200" y="3048000"/>
            <a:ext cx="4381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2563EB"/>
            </a:solidFill>
            <a:prstDash val="solid"/>
          </a:ln>
        </p:spPr>
      </p:cxnSp>
      <p:sp>
        <p:nvSpPr>
          <p:cNvPr id="16" name="flow-2">
            <a:extLst xmlns:a="http://schemas.openxmlformats.org/drawingml/2006/main">
              <a:ext uri="{FF2B5EF4-FFF2-40B4-BE49-F238E27FC236}">
                <a16:creationId xmlns:a16="http://schemas.microsoft.com/office/drawing/2014/main" id="{BC46735C-3E92-4C3A-910A-904385C1F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91DB12A8-99EC-49C7-857D-23F5D9848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3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5EBA48FF-E706-4CA5-9A08-EF4CABF9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해결 선택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42FB9CF5-868C-402A-BF03-7AD966A5E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질문자가
답변 선택</a:t>
            </a:r>
          </a:p>
        </p:txBody>
      </p:sp>
      <p:sp>
        <p:nvSpPr>
          <p:cNvPr id="20" name="flow-3">
            <a:extLst xmlns:a="http://schemas.openxmlformats.org/drawingml/2006/main">
              <a:ext uri="{FF2B5EF4-FFF2-40B4-BE49-F238E27FC236}">
                <a16:creationId xmlns:a16="http://schemas.microsoft.com/office/drawing/2014/main" id="{A3147EE5-8658-40A1-8EAC-D5987EA2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52625"/>
            <a:ext cx="2057400" cy="2247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FCE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text">
            <a:extLst xmlns:a="http://schemas.openxmlformats.org/drawingml/2006/main">
              <a:ext uri="{FF2B5EF4-FFF2-40B4-BE49-F238E27FC236}">
                <a16:creationId xmlns:a16="http://schemas.microsoft.com/office/drawing/2014/main" id="{802348F6-C53E-447B-B58C-6B141B0BB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133600"/>
            <a:ext cx="723900" cy="5524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4</a:t>
            </a:r>
          </a:p>
        </p:txBody>
      </p:sp>
      <p:sp>
        <p:nvSpPr>
          <p:cNvPr id="22" name="text">
            <a:extLst xmlns:a="http://schemas.openxmlformats.org/drawingml/2006/main">
              <a:ext uri="{FF2B5EF4-FFF2-40B4-BE49-F238E27FC236}">
                <a16:creationId xmlns:a16="http://schemas.microsoft.com/office/drawing/2014/main" id="{0C27B961-D466-4B0D-A6D4-2459F002F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81300"/>
            <a:ext cx="1752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7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KB·최종 지정</a:t>
            </a:r>
          </a:p>
        </p:txBody>
      </p:sp>
      <p:sp>
        <p:nvSpPr>
          <p:cNvPr id="23" name="text">
            <a:extLst xmlns:a="http://schemas.openxmlformats.org/drawingml/2006/main">
              <a:ext uri="{FF2B5EF4-FFF2-40B4-BE49-F238E27FC236}">
                <a16:creationId xmlns:a16="http://schemas.microsoft.com/office/drawing/2014/main" id="{B24D9A5E-B0F9-48D9-B58C-D9E6AB2EB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314700"/>
            <a:ext cx="1752600" cy="685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KB 게시 후
솔루션 확정</a:t>
            </a:r>
          </a:p>
        </p:txBody>
      </p:sp>
      <p:sp>
        <p:nvSpPr>
          <p:cNvPr id="24" name="chat">
            <a:extLst xmlns:a="http://schemas.openxmlformats.org/drawingml/2006/main">
              <a:ext uri="{FF2B5EF4-FFF2-40B4-BE49-F238E27FC236}">
                <a16:creationId xmlns:a16="http://schemas.microsoft.com/office/drawing/2014/main" id="{B6B637CC-B6E4-4539-B5F4-B4E79FB54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762500"/>
            <a:ext cx="94107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F2FE"/>
          </a:solidFill>
          <a:ln xmlns:a="http://schemas.openxmlformats.org/drawingml/2006/main">
            <a:noFill/>
            <a:prstDash val="solid"/>
          </a:ln>
        </p:spPr>
      </p:sp>
      <p:sp>
        <p:nvSpPr>
          <p:cNvPr id="25" name="text">
            <a:extLst xmlns:a="http://schemas.openxmlformats.org/drawingml/2006/main">
              <a:ext uri="{FF2B5EF4-FFF2-40B4-BE49-F238E27FC236}">
                <a16:creationId xmlns:a16="http://schemas.microsoft.com/office/drawing/2014/main" id="{B9AC020F-5EDF-44EF-A409-C7446ACE6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876800"/>
            <a:ext cx="89535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Chat Bot → 담당자에게 상태와 Community 원문 링크 알림</a:t>
            </a:r>
          </a:p>
        </p:txBody>
      </p:sp>
    </p:spTree>
    <p:extLst>
      <p:ext uri="{BB962C8B-B14F-4D97-AF65-F5344CB8AC3E}">
        <p14:creationId xmlns:p14="http://schemas.microsoft.com/office/powerpoint/2010/main" val="202784560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ackground">
            <a:extLst xmlns:a="http://schemas.openxmlformats.org/drawingml/2006/main">
              <a:ext uri="{FF2B5EF4-FFF2-40B4-BE49-F238E27FC236}">
                <a16:creationId xmlns:a16="http://schemas.microsoft.com/office/drawing/2014/main" id="{174DC261-44CD-4322-9CFB-D96602CFF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text">
            <a:extLst xmlns:a="http://schemas.openxmlformats.org/drawingml/2006/main">
              <a:ext uri="{FF2B5EF4-FFF2-40B4-BE49-F238E27FC236}">
                <a16:creationId xmlns:a16="http://schemas.microsoft.com/office/drawing/2014/main" id="{CDA8C2BF-E80C-448E-9960-7035DF90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105727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00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2700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일반 질의 4,000자와 KB 종합 16,000자를 분리했습니다</a:t>
            </a:r>
          </a:p>
        </p:txBody>
      </p:sp>
      <p:sp>
        <p:nvSpPr>
          <p:cNvPr id="3" name="rule">
            <a:extLst xmlns:a="http://schemas.openxmlformats.org/drawingml/2006/main">
              <a:ext uri="{FF2B5EF4-FFF2-40B4-BE49-F238E27FC236}">
                <a16:creationId xmlns:a16="http://schemas.microsoft.com/office/drawing/2014/main" id="{2FD58018-6C73-437E-A1DC-B94DD2D8B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11163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4" name="page">
            <a:extLst xmlns:a="http://schemas.openxmlformats.org/drawingml/2006/main">
              <a:ext uri="{FF2B5EF4-FFF2-40B4-BE49-F238E27FC236}">
                <a16:creationId xmlns:a16="http://schemas.microsoft.com/office/drawing/2014/main" id="{D3421A0A-842A-447B-8527-FFAAB20B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191250"/>
            <a:ext cx="5334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7716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0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0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5" name="text">
            <a:extLst xmlns:a="http://schemas.openxmlformats.org/drawingml/2006/main">
              <a:ext uri="{FF2B5EF4-FFF2-40B4-BE49-F238E27FC236}">
                <a16:creationId xmlns:a16="http://schemas.microsoft.com/office/drawing/2014/main" id="{A3D70DED-0E23-413E-AFE6-B366D933A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91C1C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91C1C"/>
                </a:solidFill>
                <a:latin typeface="Malgun Gothic"/>
                <a:ea typeface="Malgun Gothic"/>
                <a:cs typeface="Malgun Gothic"/>
              </a:rPr>
              <a:t>오류</a:t>
            </a:r>
          </a:p>
        </p:txBody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94378448-6240-4151-9BCD-2C0EC3466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Post #383 선택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AD7C4992-547E-4773-8E2B-31CFCD64C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57550"/>
            <a:ext cx="2381250" cy="876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KB 입력 4,678자
Activepieces HTTP 500</a:t>
            </a:r>
          </a:p>
        </p:txBody>
      </p:sp>
      <p:sp>
        <p:nvSpPr>
          <p:cNvPr id="8" name="divider-1">
            <a:extLst xmlns:a="http://schemas.openxmlformats.org/drawingml/2006/main">
              <a:ext uri="{FF2B5EF4-FFF2-40B4-BE49-F238E27FC236}">
                <a16:creationId xmlns:a16="http://schemas.microsoft.com/office/drawing/2014/main" id="{DEB337B3-C034-4CE7-BD08-98005A1E9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DE48D8EB-FCBC-46AC-AA9B-C9C2FE6A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B45309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B45309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10" name="text">
            <a:extLst xmlns:a="http://schemas.openxmlformats.org/drawingml/2006/main">
              <a:ext uri="{FF2B5EF4-FFF2-40B4-BE49-F238E27FC236}">
                <a16:creationId xmlns:a16="http://schemas.microsoft.com/office/drawing/2014/main" id="{CFE23E6D-C9E1-4840-936A-E7B73E149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ValidationError</a:t>
            </a:r>
          </a:p>
        </p:txBody>
      </p:sp>
      <p:sp>
        <p:nvSpPr>
          <p:cNvPr id="11" name="text">
            <a:extLst xmlns:a="http://schemas.openxmlformats.org/drawingml/2006/main">
              <a:ext uri="{FF2B5EF4-FFF2-40B4-BE49-F238E27FC236}">
                <a16:creationId xmlns:a16="http://schemas.microsoft.com/office/drawing/2014/main" id="{0D43B9F7-4642-4638-957F-7830B5C3A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181350"/>
            <a:ext cx="2381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650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외부 질문용 4,000자
계약을 KB에도 재사용</a:t>
            </a:r>
          </a:p>
        </p:txBody>
      </p:sp>
      <p:sp>
        <p:nvSpPr>
          <p:cNvPr id="12" name="divider-2">
            <a:extLst xmlns:a="http://schemas.openxmlformats.org/drawingml/2006/main">
              <a:ext uri="{FF2B5EF4-FFF2-40B4-BE49-F238E27FC236}">
                <a16:creationId xmlns:a16="http://schemas.microsoft.com/office/drawing/2014/main" id="{34BA6303-14FA-41DA-95A0-5ACD584F3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3" name="text">
            <a:extLst xmlns:a="http://schemas.openxmlformats.org/drawingml/2006/main">
              <a:ext uri="{FF2B5EF4-FFF2-40B4-BE49-F238E27FC236}">
                <a16:creationId xmlns:a16="http://schemas.microsoft.com/office/drawing/2014/main" id="{5ED21BB8-C924-4986-AB0B-D8730F39D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695450"/>
            <a:ext cx="2381250" cy="781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30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330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수정</a:t>
            </a:r>
          </a:p>
        </p:txBody>
      </p:sp>
      <p:sp>
        <p:nvSpPr>
          <p:cNvPr id="14" name="text">
            <a:extLst xmlns:a="http://schemas.openxmlformats.org/drawingml/2006/main">
              <a:ext uri="{FF2B5EF4-FFF2-40B4-BE49-F238E27FC236}">
                <a16:creationId xmlns:a16="http://schemas.microsoft.com/office/drawing/2014/main" id="{2D5608FF-4043-4C26-9152-93DEE2E6D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571750"/>
            <a:ext cx="2381250" cy="361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계약 분리</a:t>
            </a:r>
          </a:p>
        </p:txBody>
      </p:sp>
      <p:sp>
        <p:nvSpPr>
          <p:cNvPr id="15" name="text">
            <a:extLst xmlns:a="http://schemas.openxmlformats.org/drawingml/2006/main">
              <a:ext uri="{FF2B5EF4-FFF2-40B4-BE49-F238E27FC236}">
                <a16:creationId xmlns:a16="http://schemas.microsoft.com/office/drawing/2014/main" id="{118EF134-3C1B-4F66-A24F-64518B5A4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181350"/>
            <a:ext cx="2381250" cy="1066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일반 질의 4,000자
내부 KB 16,000자
선택 답변 우선 보존</a:t>
            </a:r>
          </a:p>
        </p:txBody>
      </p:sp>
      <p:sp>
        <p:nvSpPr>
          <p:cNvPr id="16" name="divider-3">
            <a:extLst xmlns:a="http://schemas.openxmlformats.org/drawingml/2006/main">
              <a:ext uri="{FF2B5EF4-FFF2-40B4-BE49-F238E27FC236}">
                <a16:creationId xmlns:a16="http://schemas.microsoft.com/office/drawing/2014/main" id="{3713330F-F466-4C87-80E7-DCB5EC03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16192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5E1"/>
          </a:solidFill>
          <a:ln xmlns:a="http://schemas.openxmlformats.org/drawingml/2006/main">
            <a:noFill/>
            <a:prstDash val="solid"/>
          </a:ln>
        </p:spPr>
      </p:sp>
      <p:sp>
        <p:nvSpPr>
          <p:cNvPr id="17" name="text">
            <a:extLst xmlns:a="http://schemas.openxmlformats.org/drawingml/2006/main">
              <a:ext uri="{FF2B5EF4-FFF2-40B4-BE49-F238E27FC236}">
                <a16:creationId xmlns:a16="http://schemas.microsoft.com/office/drawing/2014/main" id="{1845AB72-AB56-48C5-B0C9-7F7FECEE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1866900"/>
            <a:ext cx="11430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000">
                <a:solidFill>
                  <a:srgbClr val="15803D"/>
                </a:solidFill>
                <a:latin typeface="Malgun Gothic"/>
                <a:ea typeface="Malgun Gothic"/>
                <a:cs typeface="Malgun Gothic"/>
              </a:defRPr>
            </a:pPr>
            <a:r>
              <a:rPr sz="3000" b="1">
                <a:solidFill>
                  <a:srgbClr val="15803D"/>
                </a:solidFill>
                <a:latin typeface="Malgun Gothic"/>
                <a:ea typeface="Malgun Gothic"/>
                <a:cs typeface="Malgun Gothic"/>
              </a:rPr>
              <a:t>#384</a:t>
            </a:r>
          </a:p>
        </p:txBody>
      </p:sp>
      <p:sp>
        <p:nvSpPr>
          <p:cNvPr id="18" name="text">
            <a:extLst xmlns:a="http://schemas.openxmlformats.org/drawingml/2006/main">
              <a:ext uri="{FF2B5EF4-FFF2-40B4-BE49-F238E27FC236}">
                <a16:creationId xmlns:a16="http://schemas.microsoft.com/office/drawing/2014/main" id="{160620D2-E61D-4244-AF44-611A0BD5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724150"/>
            <a:ext cx="13716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>
                <a:solidFill>
                  <a:srgbClr val="0F172A"/>
                </a:solidFill>
                <a:latin typeface="Malgun Gothic"/>
                <a:ea typeface="Malgun Gothic"/>
                <a:cs typeface="Malgun Gothic"/>
              </a:defRPr>
            </a:pPr>
            <a:r>
              <a:rPr sz="1425" b="1">
                <a:solidFill>
                  <a:srgbClr val="0F172A"/>
                </a:solidFill>
                <a:latin typeface="Malgun Gothic"/>
                <a:ea typeface="Malgun Gothic"/>
                <a:cs typeface="Malgun Gothic"/>
              </a:rPr>
              <a:t>HTTP 201</a:t>
            </a:r>
          </a:p>
        </p:txBody>
      </p:sp>
      <p:sp>
        <p:nvSpPr>
          <p:cNvPr id="19" name="text">
            <a:extLst xmlns:a="http://schemas.openxmlformats.org/drawingml/2006/main">
              <a:ext uri="{FF2B5EF4-FFF2-40B4-BE49-F238E27FC236}">
                <a16:creationId xmlns:a16="http://schemas.microsoft.com/office/drawing/2014/main" id="{E3421EF5-B77F-4E68-BFD2-A78BF3683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638550"/>
            <a:ext cx="1143000" cy="590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850">
                <a:solidFill>
                  <a:srgbClr val="2563EB"/>
                </a:solidFill>
                <a:latin typeface="Malgun Gothic"/>
                <a:ea typeface="Malgun Gothic"/>
                <a:cs typeface="Malgun Gothic"/>
              </a:defRPr>
            </a:pPr>
            <a:r>
              <a:rPr sz="2850" b="1">
                <a:solidFill>
                  <a:srgbClr val="2563EB"/>
                </a:solidFill>
                <a:latin typeface="Malgun Gothic"/>
                <a:ea typeface="Malgun Gothic"/>
                <a:cs typeface="Malgun Gothic"/>
              </a:rPr>
              <a:t>231</a:t>
            </a:r>
          </a:p>
        </p:txBody>
      </p:sp>
      <p:sp>
        <p:nvSpPr>
          <p:cNvPr id="20" name="text">
            <a:extLst xmlns:a="http://schemas.openxmlformats.org/drawingml/2006/main">
              <a:ext uri="{FF2B5EF4-FFF2-40B4-BE49-F238E27FC236}">
                <a16:creationId xmlns:a16="http://schemas.microsoft.com/office/drawing/2014/main" id="{7E41A266-26EC-4CCD-90D8-768E6FA1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362450"/>
            <a:ext cx="13716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>
                <a:solidFill>
                  <a:srgbClr val="475569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475569"/>
                </a:solidFill>
                <a:latin typeface="Malgun Gothic"/>
                <a:ea typeface="Malgun Gothic"/>
                <a:cs typeface="Malgun Gothic"/>
              </a:rPr>
              <a:t>전체 시험 통과</a:t>
            </a:r>
          </a:p>
        </p:txBody>
      </p:sp>
    </p:spTree>
    <p:extLst>
      <p:ext uri="{BB962C8B-B14F-4D97-AF65-F5344CB8AC3E}">
        <p14:creationId xmlns:p14="http://schemas.microsoft.com/office/powerpoint/2010/main" val="20160188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background">
            <a:extLst xmlns:a="http://schemas.openxmlformats.org/drawingml/2006/main">
              <a:ext uri="{FF2B5EF4-FFF2-40B4-BE49-F238E27FC236}">
                <a16:creationId xmlns:a16="http://schemas.microsoft.com/office/drawing/2014/main" id="{68AF94A9-BA01-44B0-9C45-8A8C2A96B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  <a:prstDash val="solid"/>
          </a:ln>
        </p:spPr>
      </p:sp>
      <p:sp>
        <p:nvSpPr>
          <p:cNvPr id="2" name="closing">
            <a:extLst xmlns:a="http://schemas.openxmlformats.org/drawingml/2006/main">
              <a:ext uri="{FF2B5EF4-FFF2-40B4-BE49-F238E27FC236}">
                <a16:creationId xmlns:a16="http://schemas.microsoft.com/office/drawing/2014/main" id="{E9ABEDC6-9DE5-404A-9D51-E917DAFEE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172A"/>
          </a:solidFill>
          <a:ln xmlns:a="http://schemas.openxmlformats.org/drawingml/2006/main">
            <a:noFill/>
            <a:prstDash val="solid"/>
          </a:ln>
        </p:spPr>
      </p:sp>
      <p:sp>
        <p:nvSpPr>
          <p:cNvPr id="3" name="text">
            <a:extLst xmlns:a="http://schemas.openxmlformats.org/drawingml/2006/main">
              <a:ext uri="{FF2B5EF4-FFF2-40B4-BE49-F238E27FC236}">
                <a16:creationId xmlns:a16="http://schemas.microsoft.com/office/drawing/2014/main" id="{C4DD38C3-AA0F-4962-9D04-D130E61C9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2476500" cy="533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>
                <a:solidFill>
                  <a:srgbClr val="38BDF8"/>
                </a:solidFill>
                <a:latin typeface="Malgun Gothic"/>
                <a:ea typeface="Malgun Gothic"/>
                <a:cs typeface="Malgun Gothic"/>
              </a:defRPr>
            </a:pPr>
            <a:r>
              <a:rPr sz="2100" b="1">
                <a:solidFill>
                  <a:srgbClr val="38BDF8"/>
                </a:solidFill>
                <a:latin typeface="Malgun Gothic"/>
                <a:ea typeface="Malgun Gothic"/>
                <a:cs typeface="Malgun Gothic"/>
              </a:rPr>
              <a:t>완료</a:t>
            </a:r>
          </a:p>
        </p:txBody>
      </p:sp>
      <p:sp>
        <p:nvSpPr>
          <p:cNvPr id="4" name="text">
            <a:extLst xmlns:a="http://schemas.openxmlformats.org/drawingml/2006/main">
              <a:ext uri="{FF2B5EF4-FFF2-40B4-BE49-F238E27FC236}">
                <a16:creationId xmlns:a16="http://schemas.microsoft.com/office/drawing/2014/main" id="{2393F05B-DEF4-4D32-947F-31D23F3DA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43050"/>
            <a:ext cx="10477500" cy="1504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405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사용자는 바로 답을 받고,
검증된 KB가 최종 솔루션이 됩니다</a:t>
            </a:r>
          </a:p>
        </p:txBody>
      </p:sp>
      <p:sp>
        <p:nvSpPr>
          <p:cNvPr id="5" name="left-rule">
            <a:extLst xmlns:a="http://schemas.openxmlformats.org/drawingml/2006/main">
              <a:ext uri="{FF2B5EF4-FFF2-40B4-BE49-F238E27FC236}">
                <a16:creationId xmlns:a16="http://schemas.microsoft.com/office/drawing/2014/main" id="{B93726C4-37DE-4761-B6AB-3CD5A7B03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905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8BDF8"/>
          </a:solidFill>
          <a:ln xmlns:a="http://schemas.openxmlformats.org/drawingml/2006/main">
            <a:noFill/>
            <a:prstDash val="solid"/>
          </a:ln>
        </p:spPr>
      </p:sp>
      <p:sp>
        <p:nvSpPr>
          <p:cNvPr id="6" name="text">
            <a:extLst xmlns:a="http://schemas.openxmlformats.org/drawingml/2006/main">
              <a:ext uri="{FF2B5EF4-FFF2-40B4-BE49-F238E27FC236}">
                <a16:creationId xmlns:a16="http://schemas.microsoft.com/office/drawing/2014/main" id="{396B21C8-1C16-473F-97B2-E58689C23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71900"/>
            <a:ext cx="981075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>
                <a:solidFill>
                  <a:srgbClr val="FFFFFF"/>
                </a:solidFill>
                <a:latin typeface="Malgun Gothic"/>
                <a:ea typeface="Malgun Gothic"/>
                <a:cs typeface="Malgun Gothic"/>
              </a:defRPr>
            </a:pPr>
            <a:r>
              <a:rPr sz="18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AI Gateway 0.14.6 · OpenAI · 본문과 첨부 제한 분리</a:t>
            </a:r>
          </a:p>
        </p:txBody>
      </p:sp>
      <p:sp>
        <p:nvSpPr>
          <p:cNvPr id="7" name="text">
            <a:extLst xmlns:a="http://schemas.openxmlformats.org/drawingml/2006/main">
              <a:ext uri="{FF2B5EF4-FFF2-40B4-BE49-F238E27FC236}">
                <a16:creationId xmlns:a16="http://schemas.microsoft.com/office/drawing/2014/main" id="{70BF68F8-97E4-428A-938D-05430995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4340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공개 적용 버전: ABLESTACK Diplo · Preview 평가는 내부 전용</a:t>
            </a:r>
          </a:p>
        </p:txBody>
      </p:sp>
      <p:sp>
        <p:nvSpPr>
          <p:cNvPr id="8" name="text">
            <a:extLst xmlns:a="http://schemas.openxmlformats.org/drawingml/2006/main">
              <a:ext uri="{FF2B5EF4-FFF2-40B4-BE49-F238E27FC236}">
                <a16:creationId xmlns:a16="http://schemas.microsoft.com/office/drawing/2014/main" id="{EA33FB5D-8E4B-486C-A77C-4425DD279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57750"/>
            <a:ext cx="98107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>
                <a:solidFill>
                  <a:srgbClr val="CBD5E1"/>
                </a:solidFill>
                <a:latin typeface="Malgun Gothic"/>
                <a:ea typeface="Malgun Gothic"/>
                <a:cs typeface="Malgun Gothic"/>
              </a:defRPr>
            </a:pPr>
            <a:r>
              <a:rPr sz="1575" b="0">
                <a:solidFill>
                  <a:srgbClr val="CBD5E1"/>
                </a:solidFill>
                <a:latin typeface="Malgun Gothic"/>
                <a:ea typeface="Malgun Gothic"/>
                <a:cs typeface="Malgun Gothic"/>
              </a:rPr>
              <a:t>231 tests · Process · Database · Vector ready · 보호 서비스 무변경</a:t>
            </a:r>
          </a:p>
        </p:txBody>
      </p:sp>
      <p:sp>
        <p:nvSpPr>
          <p:cNvPr id="9" name="text">
            <a:extLst xmlns:a="http://schemas.openxmlformats.org/drawingml/2006/main">
              <a:ext uri="{FF2B5EF4-FFF2-40B4-BE49-F238E27FC236}">
                <a16:creationId xmlns:a16="http://schemas.microsoft.com/office/drawing/2014/main" id="{6BE24316-A711-41EE-9083-8CD29B7EE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6115050"/>
            <a:ext cx="5048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76200" tIns="38100" rIns="76200" bIns="38100" anchor="ctr">
            <a:normAutofit fontScale="9077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275">
                <a:solidFill>
                  <a:srgbClr val="94A3B8"/>
                </a:solidFill>
                <a:latin typeface="Malgun Gothic"/>
                <a:ea typeface="Malgun Gothic"/>
                <a:cs typeface="Malgun Gothic"/>
              </a:defRPr>
            </a:pPr>
            <a:r>
              <a:rPr sz="1275" b="0">
                <a:solidFill>
                  <a:srgbClr val="94A3B8"/>
                </a:solidFill>
                <a:latin typeface="Malgun Gothic"/>
                <a:ea typeface="Malgun Gothic"/>
                <a:cs typeface="Malgun Gothic"/>
              </a:rPr>
              <a:t>PR #65는 구현 검토를 위해 Draft 상태를 유지합니다</a:t>
            </a:r>
          </a:p>
        </p:txBody>
      </p:sp>
    </p:spTree>
    <p:extLst>
      <p:ext uri="{BB962C8B-B14F-4D97-AF65-F5344CB8AC3E}">
        <p14:creationId xmlns:p14="http://schemas.microsoft.com/office/powerpoint/2010/main" val="7220306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2026-08-14T04:48:17.0550000Z</dcterms:created>
  <dcterms:modified xsi:type="dcterms:W3CDTF">2026-08-14T04:48:17.0550000Z</dcterms:modified>
</coreProperties>
</file>