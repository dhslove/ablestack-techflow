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fcbdbbc6db4eca" /><Relationship Type="http://schemas.openxmlformats.org/officeDocument/2006/relationships/extended-properties" Target="/docProps/app.xml" Id="R8d77e9943a454368" /><Relationship Type="http://schemas.openxmlformats.org/officeDocument/2006/relationships/officeDocument" Target="/ppt/presentation.xml" Id="R7dba83b5f75b40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f1c0b8bc974ff6"/>
  </p:sldMasterIdLst>
  <p:notesMasterIdLst>
    <p:notesMasterId xmlns:r="http://schemas.openxmlformats.org/officeDocument/2006/relationships" r:id="Re7a633bfd7554d88"/>
  </p:notesMasterIdLst>
  <p:sldIdLst>
    <p:sldId xmlns:r="http://schemas.openxmlformats.org/officeDocument/2006/relationships" id="256" r:id="Rf29d08ec5b0f4fd0"/>
    <p:sldId xmlns:r="http://schemas.openxmlformats.org/officeDocument/2006/relationships" id="257" r:id="R8b390fe096b74eb3"/>
    <p:sldId xmlns:r="http://schemas.openxmlformats.org/officeDocument/2006/relationships" id="258" r:id="Rf1382c3447ff4fc5"/>
    <p:sldId xmlns:r="http://schemas.openxmlformats.org/officeDocument/2006/relationships" id="259" r:id="Reef22da771f04424"/>
    <p:sldId xmlns:r="http://schemas.openxmlformats.org/officeDocument/2006/relationships" id="260" r:id="R7b3713c83d1444ae"/>
    <p:sldId xmlns:r="http://schemas.openxmlformats.org/officeDocument/2006/relationships" id="261" r:id="R5c2cb2aa9954472e"/>
    <p:sldId xmlns:r="http://schemas.openxmlformats.org/officeDocument/2006/relationships" id="262" r:id="R3e1245a9ea934e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6870044d1e4983" /><Relationship Type="http://schemas.openxmlformats.org/officeDocument/2006/relationships/slideMaster" Target="/ppt/slideMasters/slideMaster1.xml" Id="Rc0f1c0b8bc974ff6" /><Relationship Type="http://schemas.openxmlformats.org/officeDocument/2006/relationships/notesMaster" Target="/ppt/notesMasters/notesMaster1.xml" Id="Re7a633bfd7554d88" /><Relationship Type="http://schemas.openxmlformats.org/officeDocument/2006/relationships/presProps" Target="/ppt/presProps.xml" Id="Red94f795c6fd43c0" /><Relationship Type="http://schemas.openxmlformats.org/officeDocument/2006/relationships/tableStyles" Target="/ppt/tableStyles.xml" Id="R6dc3e0fba41740a5" /><Relationship Type="http://schemas.openxmlformats.org/officeDocument/2006/relationships/slide" Target="/ppt/slides/slide1.xml" Id="Rf29d08ec5b0f4fd0" /><Relationship Type="http://schemas.openxmlformats.org/officeDocument/2006/relationships/slide" Target="/ppt/slides/slide2.xml" Id="R8b390fe096b74eb3" /><Relationship Type="http://schemas.openxmlformats.org/officeDocument/2006/relationships/slide" Target="/ppt/slides/slide3.xml" Id="Rf1382c3447ff4fc5" /><Relationship Type="http://schemas.openxmlformats.org/officeDocument/2006/relationships/slide" Target="/ppt/slides/slide4.xml" Id="Reef22da771f04424" /><Relationship Type="http://schemas.openxmlformats.org/officeDocument/2006/relationships/slide" Target="/ppt/slides/slide5.xml" Id="R7b3713c83d1444ae" /><Relationship Type="http://schemas.openxmlformats.org/officeDocument/2006/relationships/slide" Target="/ppt/slides/slide6.xml" Id="R5c2cb2aa9954472e" /><Relationship Type="http://schemas.openxmlformats.org/officeDocument/2006/relationships/slide" Target="/ppt/slides/slide7.xml" Id="R3e1245a9ea934e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3c7cb879ad48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3803d19faf4652" /><Relationship Type="http://schemas.openxmlformats.org/officeDocument/2006/relationships/notesMaster" Target="/ppt/notesMasters/notesMaster1.xml" Id="R7f5b1c9b6ba74e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e0564dc7a4431d" /><Relationship Type="http://schemas.openxmlformats.org/officeDocument/2006/relationships/notesMaster" Target="/ppt/notesMasters/notesMaster1.xml" Id="R62e30354091140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c8663e4fb64042" /><Relationship Type="http://schemas.openxmlformats.org/officeDocument/2006/relationships/notesMaster" Target="/ppt/notesMasters/notesMaster1.xml" Id="R1de6c9ddb87940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36b5c06ad24722" /><Relationship Type="http://schemas.openxmlformats.org/officeDocument/2006/relationships/notesMaster" Target="/ppt/notesMasters/notesMaster1.xml" Id="R45c9b12be3b245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9e2ecf750b4643" /><Relationship Type="http://schemas.openxmlformats.org/officeDocument/2006/relationships/notesMaster" Target="/ppt/notesMasters/notesMaster1.xml" Id="R7b7215787f4b47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6faf1581414e95" /><Relationship Type="http://schemas.openxmlformats.org/officeDocument/2006/relationships/notesMaster" Target="/ppt/notesMasters/notesMaster1.xml" Id="R636c9881d9074f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615ad97bacb48ee" /><Relationship Type="http://schemas.openxmlformats.org/officeDocument/2006/relationships/notesMaster" Target="/ppt/notesMasters/notesMaster1.xml" Id="Rf798a5865faf41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docs/reports/issues-66-68-community-conversation-validation.md</a:t>
            </a:r>
          </a:p>
          <a:p xmlns:a="http://schemas.openxmlformats.org/drawingml/2006/main">
            <a:r>
              <a:t>- docs/plans/issues-66-68-community-conversation-design.md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docs/plans/issues-66-68-community-conversation-design.md#1</a:t>
            </a:r>
          </a:p>
          <a:p xmlns:a="http://schemas.openxmlformats.org/drawingml/2006/main">
            <a:r>
              <a:t>- services/ai-gateway/app/conversation.py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docs/plans/issues-66-68-community-conversation-design.md#2</a:t>
            </a:r>
          </a:p>
          <a:p xmlns:a="http://schemas.openxmlformats.org/drawingml/2006/main">
            <a:r>
              <a:t>- deploy/compose/activepieces/flows/community-assist-v1.json</a:t>
            </a:r>
          </a:p>
          <a:p xmlns:a="http://schemas.openxmlformats.org/drawingml/2006/main">
            <a:r>
              <a:t>- services/ai-gateway/app/main.py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https://community.ablecloud.io/d/163</a:t>
            </a:r>
          </a:p>
          <a:p xmlns:a="http://schemas.openxmlformats.org/drawingml/2006/main">
            <a:r>
              <a:t>- docs/reports/issues-66-68-community-conversation-validation.md#3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https://community.ablecloud.io/d/163/352</a:t>
            </a:r>
          </a:p>
          <a:p xmlns:a="http://schemas.openxmlformats.org/drawingml/2006/main">
            <a:r>
              <a:t>- docs/reports/issues-66-68-community-conversation-validation.md#3.2</a:t>
            </a:r>
          </a:p>
          <a:p xmlns:a="http://schemas.openxmlformats.org/drawingml/2006/main">
            <a:r>
              <a:t>- services/ai-gateway/app/artifacts.py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docs/reports/issues-66-68-community-conversation-validation.md#5</a:t>
            </a:r>
          </a:p>
          <a:p xmlns:a="http://schemas.openxmlformats.org/drawingml/2006/main">
            <a:r>
              <a:t>- services/ai-gateway/tests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docs/reports/issues-66-68-community-conversation-validation.md#7</a:t>
            </a:r>
          </a:p>
          <a:p xmlns:a="http://schemas.openxmlformats.org/drawingml/2006/main">
            <a:r>
              <a:t>- https://github.com/ablecloud-team/ablestack-techflow/issues/66</a:t>
            </a:r>
          </a:p>
          <a:p xmlns:a="http://schemas.openxmlformats.org/drawingml/2006/main">
            <a:r>
              <a:t>- https://github.com/ablecloud-team/ablestack-techflow/issues/67</a:t>
            </a:r>
          </a:p>
          <a:p xmlns:a="http://schemas.openxmlformats.org/drawingml/2006/main">
            <a:r>
              <a:t>- https://github.com/ablecloud-team/ablestack-techflow/issues/68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687745962249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5376604be24861" /><Relationship Type="http://schemas.openxmlformats.org/officeDocument/2006/relationships/slideLayout" Target="/ppt/slideLayouts/slideLayout1.xml" Id="Ra275ea7446f44d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75ea7446f44d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a5287442ab4a88" /><Relationship Type="http://schemas.openxmlformats.org/officeDocument/2006/relationships/notesSlide" Target="/ppt/notesSlides/notesSlide1.xml" Id="Rd707744ea7f940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ab6d6877f24e42" /><Relationship Type="http://schemas.openxmlformats.org/officeDocument/2006/relationships/notesSlide" Target="/ppt/notesSlides/notesSlide2.xml" Id="R034e3b9fe0cb4d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f0ae764bb4b10" /><Relationship Type="http://schemas.openxmlformats.org/officeDocument/2006/relationships/notesSlide" Target="/ppt/notesSlides/notesSlide3.xml" Id="Rc3b2437ad69544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d86b09a4b54476" /><Relationship Type="http://schemas.openxmlformats.org/officeDocument/2006/relationships/notesSlide" Target="/ppt/notesSlides/notesSlide4.xml" Id="R40dc118d543548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8eac34194544e7" /><Relationship Type="http://schemas.openxmlformats.org/officeDocument/2006/relationships/notesSlide" Target="/ppt/notesSlides/notesSlide5.xml" Id="Ra3c1114b8d5947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fb71f538fa491d" /><Relationship Type="http://schemas.openxmlformats.org/officeDocument/2006/relationships/notesSlide" Target="/ppt/notesSlides/notesSlide6.xml" Id="R2b26f1d88e784c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93e72114ff43bc" /><Relationship Type="http://schemas.openxmlformats.org/officeDocument/2006/relationships/notesSlide" Target="/ppt/notesSlides/notesSlide7.xml" Id="R3ed1fca76c8f4f9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ver-background">
            <a:extLst xmlns:a="http://schemas.openxmlformats.org/drawingml/2006/main">
              <a:ext uri="{FF2B5EF4-FFF2-40B4-BE49-F238E27FC236}">
                <a16:creationId xmlns:a16="http://schemas.microsoft.com/office/drawing/2014/main" id="{2681C994-5F15-4C1B-BEC1-993F5FD2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A19D5DF1-1289-4A5E-97AC-92C1AFE4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495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ABLESTACK TECHFLOW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B3C864E-A730-4469-8C41-178DBC68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542925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822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525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질문이 해결될 때까지
맥락을 이어갑니다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C0E1A5B-9958-4A2C-B5DB-3E90AFFE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90900"/>
            <a:ext cx="51435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Community 후속 댓글, 이미지, 로그 압축, 승인, 해결과 재개를 하나의 Case로 관리</a:t>
            </a:r>
          </a:p>
        </p:txBody>
      </p:sp>
      <p:sp>
        <p:nvSpPr>
          <p:cNvPr id="5" name="cover-field">
            <a:extLst xmlns:a="http://schemas.openxmlformats.org/drawingml/2006/main">
              <a:ext uri="{FF2B5EF4-FFF2-40B4-BE49-F238E27FC236}">
                <a16:creationId xmlns:a16="http://schemas.microsoft.com/office/drawing/2014/main" id="{7E457A6E-5BBA-4AA6-AC43-E196BAD0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"/>
            <a:ext cx="5524500" cy="5619750"/>
          </a:xfrm>
          <a:prstGeom xmlns:a="http://schemas.openxmlformats.org/drawingml/2006/main" prst="roundRect">
            <a:avLst>
              <a:gd name="adj" fmla="val 137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cover-01">
            <a:extLst xmlns:a="http://schemas.openxmlformats.org/drawingml/2006/main">
              <a:ext uri="{FF2B5EF4-FFF2-40B4-BE49-F238E27FC236}">
                <a16:creationId xmlns:a16="http://schemas.microsoft.com/office/drawing/2014/main" id="{8A57E9E8-0216-42E6-BA07-75DFE775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914400"/>
            <a:ext cx="11430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92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465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cover-q">
            <a:extLst xmlns:a="http://schemas.openxmlformats.org/drawingml/2006/main">
              <a:ext uri="{FF2B5EF4-FFF2-40B4-BE49-F238E27FC236}">
                <a16:creationId xmlns:a16="http://schemas.microsoft.com/office/drawing/2014/main" id="{7F4AFFD5-94A7-4556-ACA6-D8C548EA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047750"/>
            <a:ext cx="2952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질문</a:t>
            </a:r>
          </a:p>
        </p:txBody>
      </p:sp>
      <p:cxnSp>
        <p:nvCxnSpPr>
          <p:cNvPr id="22" name="cover-arrow-1"/>
          <p:cNvCxnSpPr/>
          <p:nvPr/>
        </p:nvCxnSpPr>
        <p:spPr>
          <a:xfrm xmlns:a="http://schemas.openxmlformats.org/drawingml/2006/main">
            <a:off x="7029450" y="2076450"/>
            <a:ext cx="3429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9" name="cover-02">
            <a:extLst xmlns:a="http://schemas.openxmlformats.org/drawingml/2006/main">
              <a:ext uri="{FF2B5EF4-FFF2-40B4-BE49-F238E27FC236}">
                <a16:creationId xmlns:a16="http://schemas.microsoft.com/office/drawing/2014/main" id="{BB3956ED-31C2-49E4-A123-DBBC0148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81250"/>
            <a:ext cx="11430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92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465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cover-review">
            <a:extLst xmlns:a="http://schemas.openxmlformats.org/drawingml/2006/main">
              <a:ext uri="{FF2B5EF4-FFF2-40B4-BE49-F238E27FC236}">
                <a16:creationId xmlns:a16="http://schemas.microsoft.com/office/drawing/2014/main" id="{03545E5B-B837-4D24-A611-937EE8B2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14600"/>
            <a:ext cx="2952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후속 자료와 승인</a:t>
            </a:r>
          </a:p>
        </p:txBody>
      </p:sp>
      <p:cxnSp>
        <p:nvCxnSpPr>
          <p:cNvPr id="25" name="cover-arrow-2"/>
          <p:cNvCxnSpPr/>
          <p:nvPr/>
        </p:nvCxnSpPr>
        <p:spPr>
          <a:xfrm xmlns:a="http://schemas.openxmlformats.org/drawingml/2006/main">
            <a:off x="7029450" y="3543300"/>
            <a:ext cx="3429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12" name="cover-03">
            <a:extLst xmlns:a="http://schemas.openxmlformats.org/drawingml/2006/main">
              <a:ext uri="{FF2B5EF4-FFF2-40B4-BE49-F238E27FC236}">
                <a16:creationId xmlns:a16="http://schemas.microsoft.com/office/drawing/2014/main" id="{3E712F7F-6A5B-400D-BA36-F1BC4A0D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48100"/>
            <a:ext cx="11430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92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4650">
                <a:solidFill>
                  <a:srgbClr val="16784B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>
                <a:solidFill>
                  <a:srgbClr val="16784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3" name="cover-solved">
            <a:extLst xmlns:a="http://schemas.openxmlformats.org/drawingml/2006/main">
              <a:ext uri="{FF2B5EF4-FFF2-40B4-BE49-F238E27FC236}">
                <a16:creationId xmlns:a16="http://schemas.microsoft.com/office/drawing/2014/main" id="{01C40625-E8EF-4951-8627-BC9B1D31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81450"/>
            <a:ext cx="2952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질문자가 해결</a:t>
            </a:r>
          </a:p>
        </p:txBody>
      </p:sp>
      <p:sp>
        <p:nvSpPr>
          <p:cNvPr id="14" name="cover-date">
            <a:extLst xmlns:a="http://schemas.openxmlformats.org/drawingml/2006/main">
              <a:ext uri="{FF2B5EF4-FFF2-40B4-BE49-F238E27FC236}">
                <a16:creationId xmlns:a16="http://schemas.microsoft.com/office/drawing/2014/main" id="{090B048D-FCC0-4387-92B5-36587F3C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286500"/>
            <a:ext cx="1790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75758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2026-08-13</a:t>
            </a:r>
          </a:p>
        </p:txBody>
      </p:sp>
    </p:spTree>
    <p:extLst>
      <p:ext uri="{BB962C8B-B14F-4D97-AF65-F5344CB8AC3E}">
        <p14:creationId xmlns:p14="http://schemas.microsoft.com/office/powerpoint/2010/main" val="104962252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hange-background">
            <a:extLst xmlns:a="http://schemas.openxmlformats.org/drawingml/2006/main">
              <a:ext uri="{FF2B5EF4-FFF2-40B4-BE49-F238E27FC236}">
                <a16:creationId xmlns:a16="http://schemas.microsoft.com/office/drawing/2014/main" id="{1558BE19-2CB8-4186-BD19-557373F7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5A01B981-2727-4469-8CAA-D105F19D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7823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972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60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단발 답변을 지속 지원 Conversation으로 바꿨습니다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C1484281-9BF9-45BC-B364-1BE6262F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48400"/>
            <a:ext cx="457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75758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before-label">
            <a:extLst xmlns:a="http://schemas.openxmlformats.org/drawingml/2006/main">
              <a:ext uri="{FF2B5EF4-FFF2-40B4-BE49-F238E27FC236}">
                <a16:creationId xmlns:a16="http://schemas.microsoft.com/office/drawing/2014/main" id="{42AFB336-596A-4F20-AE45-75EC9643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4762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974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이전</a:t>
            </a:r>
          </a:p>
        </p:txBody>
      </p:sp>
      <p:sp>
        <p:nvSpPr>
          <p:cNvPr id="5" name="before-panel">
            <a:extLst xmlns:a="http://schemas.openxmlformats.org/drawingml/2006/main">
              <a:ext uri="{FF2B5EF4-FFF2-40B4-BE49-F238E27FC236}">
                <a16:creationId xmlns:a16="http://schemas.microsoft.com/office/drawing/2014/main" id="{F994CE6A-264B-4809-8DF9-2F0A892F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before-flow">
            <a:extLst xmlns:a="http://schemas.openxmlformats.org/drawingml/2006/main">
              <a:ext uri="{FF2B5EF4-FFF2-40B4-BE49-F238E27FC236}">
                <a16:creationId xmlns:a16="http://schemas.microsoft.com/office/drawing/2014/main" id="{38282C50-DE12-4B01-9AF9-579FE73B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4267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질문 → 답변 → 종료</a:t>
            </a:r>
          </a:p>
        </p:txBody>
      </p:sp>
      <p:sp>
        <p:nvSpPr>
          <p:cNvPr id="7" name="before-body">
            <a:extLst xmlns:a="http://schemas.openxmlformats.org/drawingml/2006/main">
              <a:ext uri="{FF2B5EF4-FFF2-40B4-BE49-F238E27FC236}">
                <a16:creationId xmlns:a16="http://schemas.microsoft.com/office/drawing/2014/main" id="{B6C2F400-6053-4710-8744-097ACB6D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4095750" cy="1390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- 추가 자료가 새 맥락으로 분리
- 질문자가 해결했는지 알 수 없음
- 승인된 답변 이후의 재질문 추적 어려움</a:t>
            </a:r>
          </a:p>
        </p:txBody>
      </p:sp>
      <p:sp>
        <p:nvSpPr>
          <p:cNvPr id="8" name="after-label">
            <a:extLst xmlns:a="http://schemas.openxmlformats.org/drawingml/2006/main">
              <a:ext uri="{FF2B5EF4-FFF2-40B4-BE49-F238E27FC236}">
                <a16:creationId xmlns:a16="http://schemas.microsoft.com/office/drawing/2014/main" id="{66792A62-3E83-4D73-8E84-B0032BA1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19250"/>
            <a:ext cx="4953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974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현재</a:t>
            </a:r>
          </a:p>
        </p:txBody>
      </p:sp>
      <p:sp>
        <p:nvSpPr>
          <p:cNvPr id="9" name="after-panel">
            <a:extLst xmlns:a="http://schemas.openxmlformats.org/drawingml/2006/main">
              <a:ext uri="{FF2B5EF4-FFF2-40B4-BE49-F238E27FC236}">
                <a16:creationId xmlns:a16="http://schemas.microsoft.com/office/drawing/2014/main" id="{7E7833C1-E72B-4E0E-82E3-612BFDEE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098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0" name="after-flow">
            <a:extLst xmlns:a="http://schemas.openxmlformats.org/drawingml/2006/main">
              <a:ext uri="{FF2B5EF4-FFF2-40B4-BE49-F238E27FC236}">
                <a16:creationId xmlns:a16="http://schemas.microsoft.com/office/drawing/2014/main" id="{B2EDA553-7085-4B84-9E8B-37973D25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57450"/>
            <a:ext cx="4457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질문 → 대화 → 승인 → 해결</a:t>
            </a:r>
          </a:p>
        </p:txBody>
      </p:sp>
      <p:sp>
        <p:nvSpPr>
          <p:cNvPr id="11" name="after-body">
            <a:extLst xmlns:a="http://schemas.openxmlformats.org/drawingml/2006/main">
              <a:ext uri="{FF2B5EF4-FFF2-40B4-BE49-F238E27FC236}">
                <a16:creationId xmlns:a16="http://schemas.microsoft.com/office/drawing/2014/main" id="{C48EB42C-827B-4324-B586-A8683472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81350"/>
            <a:ext cx="43434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- 같은 Discussion의 모든 Turn 누적
- 이미지와 로그 압축을 같은 맥락에서 분석
- 질문자의 Best Answer까지 상태 유지
- 해제하거나 후속 질문이 오면 자동 재개</a:t>
            </a:r>
          </a:p>
        </p:txBody>
      </p:sp>
    </p:spTree>
    <p:extLst>
      <p:ext uri="{BB962C8B-B14F-4D97-AF65-F5344CB8AC3E}">
        <p14:creationId xmlns:p14="http://schemas.microsoft.com/office/powerpoint/2010/main" val="77419634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architecture-background">
            <a:extLst xmlns:a="http://schemas.openxmlformats.org/drawingml/2006/main">
              <a:ext uri="{FF2B5EF4-FFF2-40B4-BE49-F238E27FC236}">
                <a16:creationId xmlns:a16="http://schemas.microsoft.com/office/drawing/2014/main" id="{1F8BC38E-D9AA-4F4F-AD26-A075BEE6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81A01291-CEB4-41A0-825D-17BF414D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7823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796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60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원본 상태는 Community, 정책 상태는 AI Gateway가 소유합니다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B225B5BC-C756-46B5-B027-29F70B37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48400"/>
            <a:ext cx="457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75758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cxnSp>
        <p:nvCxnSpPr>
          <p:cNvPr id="32" name="flow-arrow-0"/>
          <p:cNvCxnSpPr/>
          <p:nvPr/>
        </p:nvCxnSpPr>
        <p:spPr>
          <a:xfrm xmlns:a="http://schemas.openxmlformats.org/drawingml/2006/main">
            <a:off x="1828800" y="2905125"/>
            <a:ext cx="4953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33" name="flow-arrow-1"/>
          <p:cNvCxnSpPr/>
          <p:nvPr/>
        </p:nvCxnSpPr>
        <p:spPr>
          <a:xfrm xmlns:a="http://schemas.openxmlformats.org/drawingml/2006/main">
            <a:off x="3771900" y="2905125"/>
            <a:ext cx="4953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34" name="flow-arrow-2"/>
          <p:cNvCxnSpPr/>
          <p:nvPr/>
        </p:nvCxnSpPr>
        <p:spPr>
          <a:xfrm xmlns:a="http://schemas.openxmlformats.org/drawingml/2006/main">
            <a:off x="5715000" y="2905125"/>
            <a:ext cx="4953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35" name="flow-arrow-3"/>
          <p:cNvCxnSpPr/>
          <p:nvPr/>
        </p:nvCxnSpPr>
        <p:spPr>
          <a:xfrm xmlns:a="http://schemas.openxmlformats.org/drawingml/2006/main">
            <a:off x="7658100" y="2905125"/>
            <a:ext cx="4953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36" name="flow-arrow-4"/>
          <p:cNvCxnSpPr/>
          <p:nvPr/>
        </p:nvCxnSpPr>
        <p:spPr>
          <a:xfrm xmlns:a="http://schemas.openxmlformats.org/drawingml/2006/main">
            <a:off x="9601200" y="2905125"/>
            <a:ext cx="4953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9" name="flow-node-0">
            <a:extLst xmlns:a="http://schemas.openxmlformats.org/drawingml/2006/main">
              <a:ext uri="{FF2B5EF4-FFF2-40B4-BE49-F238E27FC236}">
                <a16:creationId xmlns:a16="http://schemas.microsoft.com/office/drawing/2014/main" id="{70C9EDEC-80A6-442C-803C-21119E71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43150"/>
            <a:ext cx="14097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>
            <a:noFill/>
            <a:prstDash val="solid"/>
          </a:ln>
        </p:spPr>
      </p:sp>
      <p:sp>
        <p:nvSpPr>
          <p:cNvPr id="10" name="flow-label-0">
            <a:extLst xmlns:a="http://schemas.openxmlformats.org/drawingml/2006/main">
              <a:ext uri="{FF2B5EF4-FFF2-40B4-BE49-F238E27FC236}">
                <a16:creationId xmlns:a16="http://schemas.microsoft.com/office/drawing/2014/main" id="{A39A6A17-88D4-488E-A7F3-38510F8B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1257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질문자</a:t>
            </a:r>
          </a:p>
        </p:txBody>
      </p:sp>
      <p:sp>
        <p:nvSpPr>
          <p:cNvPr id="11" name="flow-detail-0">
            <a:extLst xmlns:a="http://schemas.openxmlformats.org/drawingml/2006/main">
              <a:ext uri="{FF2B5EF4-FFF2-40B4-BE49-F238E27FC236}">
                <a16:creationId xmlns:a16="http://schemas.microsoft.com/office/drawing/2014/main" id="{3C86285F-BF5C-482E-8BB2-0ECA91DF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0"/>
            <a:ext cx="1257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질문·첨부</a:t>
            </a:r>
          </a:p>
        </p:txBody>
      </p:sp>
      <p:sp>
        <p:nvSpPr>
          <p:cNvPr id="12" name="flow-node-1">
            <a:extLst xmlns:a="http://schemas.openxmlformats.org/drawingml/2006/main">
              <a:ext uri="{FF2B5EF4-FFF2-40B4-BE49-F238E27FC236}">
                <a16:creationId xmlns:a16="http://schemas.microsoft.com/office/drawing/2014/main" id="{4B8ACC37-C276-4582-889E-A205F128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343150"/>
            <a:ext cx="14097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>
            <a:noFill/>
            <a:prstDash val="solid"/>
          </a:ln>
        </p:spPr>
      </p:sp>
      <p:sp>
        <p:nvSpPr>
          <p:cNvPr id="13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3A17945C-172D-443B-811B-D225FBBD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76500"/>
            <a:ext cx="1257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Flarum</a:t>
            </a:r>
          </a:p>
        </p:txBody>
      </p:sp>
      <p:sp>
        <p:nvSpPr>
          <p:cNvPr id="14" name="flow-detail-1">
            <a:extLst xmlns:a="http://schemas.openxmlformats.org/drawingml/2006/main">
              <a:ext uri="{FF2B5EF4-FFF2-40B4-BE49-F238E27FC236}">
                <a16:creationId xmlns:a16="http://schemas.microsoft.com/office/drawing/2014/main" id="{17256F5E-51EE-481D-8777-46C3226B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952750"/>
            <a:ext cx="1257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원본·승인</a:t>
            </a:r>
          </a:p>
        </p:txBody>
      </p:sp>
      <p:sp>
        <p:nvSpPr>
          <p:cNvPr id="15" name="flow-node-2">
            <a:extLst xmlns:a="http://schemas.openxmlformats.org/drawingml/2006/main">
              <a:ext uri="{FF2B5EF4-FFF2-40B4-BE49-F238E27FC236}">
                <a16:creationId xmlns:a16="http://schemas.microsoft.com/office/drawing/2014/main" id="{164CBEDD-EB2D-4A35-93E7-88BBC397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43150"/>
            <a:ext cx="14097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>
            <a:noFill/>
            <a:prstDash val="solid"/>
          </a:ln>
        </p:spPr>
      </p:sp>
      <p:sp>
        <p:nvSpPr>
          <p:cNvPr id="16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700460EE-9C5D-4819-872A-36519078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76500"/>
            <a:ext cx="1257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Poller</a:t>
            </a:r>
          </a:p>
        </p:txBody>
      </p:sp>
      <p:sp>
        <p:nvSpPr>
          <p:cNvPr id="17" name="flow-detail-2">
            <a:extLst xmlns:a="http://schemas.openxmlformats.org/drawingml/2006/main">
              <a:ext uri="{FF2B5EF4-FFF2-40B4-BE49-F238E27FC236}">
                <a16:creationId xmlns:a16="http://schemas.microsoft.com/office/drawing/2014/main" id="{59B52129-A586-4A8A-BFE4-A88C9336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52750"/>
            <a:ext cx="1257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증분 수집</a:t>
            </a:r>
          </a:p>
        </p:txBody>
      </p:sp>
      <p:sp>
        <p:nvSpPr>
          <p:cNvPr id="18" name="flow-node-3">
            <a:extLst xmlns:a="http://schemas.openxmlformats.org/drawingml/2006/main">
              <a:ext uri="{FF2B5EF4-FFF2-40B4-BE49-F238E27FC236}">
                <a16:creationId xmlns:a16="http://schemas.microsoft.com/office/drawing/2014/main" id="{28D3BBF7-6D40-4032-8509-132C42F4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43150"/>
            <a:ext cx="14097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>
            <a:noFill/>
            <a:prstDash val="solid"/>
          </a:ln>
        </p:spPr>
      </p:sp>
      <p:sp>
        <p:nvSpPr>
          <p:cNvPr id="19" name="flow-label-3">
            <a:extLst xmlns:a="http://schemas.openxmlformats.org/drawingml/2006/main">
              <a:ext uri="{FF2B5EF4-FFF2-40B4-BE49-F238E27FC236}">
                <a16:creationId xmlns:a16="http://schemas.microsoft.com/office/drawing/2014/main" id="{E66B0B36-C9E5-40E7-BF4B-3C397C90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76500"/>
            <a:ext cx="1257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5509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Active-
pieces</a:t>
            </a:r>
          </a:p>
        </p:txBody>
      </p:sp>
      <p:sp>
        <p:nvSpPr>
          <p:cNvPr id="20" name="flow-detail-3">
            <a:extLst xmlns:a="http://schemas.openxmlformats.org/drawingml/2006/main">
              <a:ext uri="{FF2B5EF4-FFF2-40B4-BE49-F238E27FC236}">
                <a16:creationId xmlns:a16="http://schemas.microsoft.com/office/drawing/2014/main" id="{7376A6B3-7BDD-48ED-8549-70AB5A55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1257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순서 실행</a:t>
            </a:r>
          </a:p>
        </p:txBody>
      </p:sp>
      <p:sp>
        <p:nvSpPr>
          <p:cNvPr id="21" name="flow-node-4">
            <a:extLst xmlns:a="http://schemas.openxmlformats.org/drawingml/2006/main">
              <a:ext uri="{FF2B5EF4-FFF2-40B4-BE49-F238E27FC236}">
                <a16:creationId xmlns:a16="http://schemas.microsoft.com/office/drawing/2014/main" id="{D9591D0D-51D2-4312-9C83-58E965AB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43150"/>
            <a:ext cx="14097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22" name="flow-label-4">
            <a:extLst xmlns:a="http://schemas.openxmlformats.org/drawingml/2006/main">
              <a:ext uri="{FF2B5EF4-FFF2-40B4-BE49-F238E27FC236}">
                <a16:creationId xmlns:a16="http://schemas.microsoft.com/office/drawing/2014/main" id="{A7D189F2-7F27-4940-9BFC-35CBE6B6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76500"/>
            <a:ext cx="1257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AI Gateway</a:t>
            </a:r>
          </a:p>
        </p:txBody>
      </p:sp>
      <p:sp>
        <p:nvSpPr>
          <p:cNvPr id="23" name="flow-detail-4">
            <a:extLst xmlns:a="http://schemas.openxmlformats.org/drawingml/2006/main">
              <a:ext uri="{FF2B5EF4-FFF2-40B4-BE49-F238E27FC236}">
                <a16:creationId xmlns:a16="http://schemas.microsoft.com/office/drawing/2014/main" id="{7B0C16CB-B164-4B58-A093-74B941C1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52750"/>
            <a:ext cx="1257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맥락·정책</a:t>
            </a:r>
          </a:p>
        </p:txBody>
      </p:sp>
      <p:sp>
        <p:nvSpPr>
          <p:cNvPr id="24" name="flow-node-5">
            <a:extLst xmlns:a="http://schemas.openxmlformats.org/drawingml/2006/main">
              <a:ext uri="{FF2B5EF4-FFF2-40B4-BE49-F238E27FC236}">
                <a16:creationId xmlns:a16="http://schemas.microsoft.com/office/drawing/2014/main" id="{287F06C4-F47E-4C39-97BC-197CF6F9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343150"/>
            <a:ext cx="14097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>
            <a:noFill/>
            <a:prstDash val="solid"/>
          </a:ln>
        </p:spPr>
      </p:sp>
      <p:sp>
        <p:nvSpPr>
          <p:cNvPr id="25" name="flow-label-5">
            <a:extLst xmlns:a="http://schemas.openxmlformats.org/drawingml/2006/main">
              <a:ext uri="{FF2B5EF4-FFF2-40B4-BE49-F238E27FC236}">
                <a16:creationId xmlns:a16="http://schemas.microsoft.com/office/drawing/2014/main" id="{0712F662-B7FE-4F9D-9B3A-8C2B1C5D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476500"/>
            <a:ext cx="1257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담당자</a:t>
            </a:r>
          </a:p>
        </p:txBody>
      </p:sp>
      <p:sp>
        <p:nvSpPr>
          <p:cNvPr id="26" name="flow-detail-5">
            <a:extLst xmlns:a="http://schemas.openxmlformats.org/drawingml/2006/main">
              <a:ext uri="{FF2B5EF4-FFF2-40B4-BE49-F238E27FC236}">
                <a16:creationId xmlns:a16="http://schemas.microsoft.com/office/drawing/2014/main" id="{6705C0B3-5701-4698-B4E0-2787297F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952750"/>
            <a:ext cx="1257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승인·반려</a:t>
            </a:r>
          </a:p>
        </p:txBody>
      </p:sp>
      <p:sp>
        <p:nvSpPr>
          <p:cNvPr id="27" name="ownership-band">
            <a:extLst xmlns:a="http://schemas.openxmlformats.org/drawingml/2006/main">
              <a:ext uri="{FF2B5EF4-FFF2-40B4-BE49-F238E27FC236}">
                <a16:creationId xmlns:a16="http://schemas.microsoft.com/office/drawing/2014/main" id="{034D9487-06C1-4076-925C-33E6A7AD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171950"/>
            <a:ext cx="9067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E"/>
          </a:solidFill>
          <a:ln xmlns:a="http://schemas.openxmlformats.org/drawingml/2006/main">
            <a:noFill/>
            <a:prstDash val="solid"/>
          </a:ln>
        </p:spPr>
      </p:sp>
      <p:sp>
        <p:nvSpPr>
          <p:cNvPr id="28" name="ownership-text">
            <a:extLst xmlns:a="http://schemas.openxmlformats.org/drawingml/2006/main">
              <a:ext uri="{FF2B5EF4-FFF2-40B4-BE49-F238E27FC236}">
                <a16:creationId xmlns:a16="http://schemas.microsoft.com/office/drawing/2014/main" id="{8836484C-C353-4EC5-AF86-9DC05ADE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81500"/>
            <a:ext cx="857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969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75">
                <a:solidFill>
                  <a:srgbClr val="16784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6784B"/>
                </a:solidFill>
                <a:latin typeface="Malgun Gothic"/>
                <a:ea typeface="Malgun Gothic"/>
                <a:cs typeface="Malgun Gothic"/>
              </a:rPr>
              <a:t>Activepieces는 이벤트를 전달합니다. 질문자 판정, 승인 무효화, 멱등성, 근거 공개 제한은 AI Gateway와 Flarum이 결정합니다.</a:t>
            </a:r>
          </a:p>
        </p:txBody>
      </p:sp>
    </p:spTree>
    <p:extLst>
      <p:ext uri="{BB962C8B-B14F-4D97-AF65-F5344CB8AC3E}">
        <p14:creationId xmlns:p14="http://schemas.microsoft.com/office/powerpoint/2010/main" val="62419517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2e-background">
            <a:extLst xmlns:a="http://schemas.openxmlformats.org/drawingml/2006/main">
              <a:ext uri="{FF2B5EF4-FFF2-40B4-BE49-F238E27FC236}">
                <a16:creationId xmlns:a16="http://schemas.microsoft.com/office/drawing/2014/main" id="{F5224D1A-2BAF-4F4E-8A00-B4DA2129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1F5645E1-70BD-467E-BDF2-502E8514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7823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876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60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Discussion #163에서 해결, 재개, 재해결까지 검증했습니다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FB06BE7D-A067-43FC-A401-21161952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48400"/>
            <a:ext cx="457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75758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cxnSp>
        <p:nvCxnSpPr>
          <p:cNvPr id="24" name="timeline-line"/>
          <p:cNvCxnSpPr/>
          <p:nvPr/>
        </p:nvCxnSpPr>
        <p:spPr>
          <a:xfrm xmlns:a="http://schemas.openxmlformats.org/drawingml/2006/main">
            <a:off x="704850" y="3295650"/>
            <a:ext cx="107442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5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EB3B746F-C8CC-4410-A9CD-A8A6559C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timeline-top-0">
            <a:extLst xmlns:a="http://schemas.openxmlformats.org/drawingml/2006/main">
              <a:ext uri="{FF2B5EF4-FFF2-40B4-BE49-F238E27FC236}">
                <a16:creationId xmlns:a16="http://schemas.microsoft.com/office/drawing/2014/main" id="{5A30A66A-995C-470E-8E29-64859A37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809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Post #350</a:t>
            </a:r>
          </a:p>
        </p:txBody>
      </p:sp>
      <p:sp>
        <p:nvSpPr>
          <p:cNvPr id="7" name="timeline-bottom-0">
            <a:extLst xmlns:a="http://schemas.openxmlformats.org/drawingml/2006/main">
              <a:ext uri="{FF2B5EF4-FFF2-40B4-BE49-F238E27FC236}">
                <a16:creationId xmlns:a16="http://schemas.microsoft.com/office/drawing/2014/main" id="{77EDEA0A-5ABE-47FB-A169-927A7202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8097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최초 질문
Draft v1</a:t>
            </a:r>
          </a:p>
        </p:txBody>
      </p:sp>
      <p:sp>
        <p:nvSpPr>
          <p:cNvPr id="8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2B23EAC7-1DB1-4723-BE32-5A3A1ED8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908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>
            <a:noFill/>
            <a:prstDash val="solid"/>
          </a:ln>
        </p:spPr>
      </p:sp>
      <p:sp>
        <p:nvSpPr>
          <p:cNvPr id="9" name="timeline-top-1">
            <a:extLst xmlns:a="http://schemas.openxmlformats.org/drawingml/2006/main">
              <a:ext uri="{FF2B5EF4-FFF2-40B4-BE49-F238E27FC236}">
                <a16:creationId xmlns:a16="http://schemas.microsoft.com/office/drawing/2014/main" id="{10FD85FB-25F1-43BE-B378-A065AB03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57450"/>
            <a:ext cx="1809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Post #352</a:t>
            </a:r>
          </a:p>
        </p:txBody>
      </p:sp>
      <p:sp>
        <p:nvSpPr>
          <p:cNvPr id="10" name="timeline-bottom-1">
            <a:extLst xmlns:a="http://schemas.openxmlformats.org/drawingml/2006/main">
              <a:ext uri="{FF2B5EF4-FFF2-40B4-BE49-F238E27FC236}">
                <a16:creationId xmlns:a16="http://schemas.microsoft.com/office/drawing/2014/main" id="{22FE1CBF-3E58-42D1-B09E-DA5D24A8F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19500"/>
            <a:ext cx="18097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이미지 + ZIP
Draft v2</a:t>
            </a:r>
          </a:p>
        </p:txBody>
      </p:sp>
      <p:sp>
        <p:nvSpPr>
          <p:cNvPr id="11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96EAE3C5-CA1B-4F73-841B-7BDC7245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908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>
            <a:noFill/>
            <a:prstDash val="solid"/>
          </a:ln>
        </p:spPr>
      </p:sp>
      <p:sp>
        <p:nvSpPr>
          <p:cNvPr id="12" name="timeline-top-2">
            <a:extLst xmlns:a="http://schemas.openxmlformats.org/drawingml/2006/main">
              <a:ext uri="{FF2B5EF4-FFF2-40B4-BE49-F238E27FC236}">
                <a16:creationId xmlns:a16="http://schemas.microsoft.com/office/drawing/2014/main" id="{E3869714-3D58-4737-8245-D206CDD7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57450"/>
            <a:ext cx="1809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Post #353</a:t>
            </a:r>
          </a:p>
        </p:txBody>
      </p:sp>
      <p:sp>
        <p:nvSpPr>
          <p:cNvPr id="13" name="timeline-bottom-2">
            <a:extLst xmlns:a="http://schemas.openxmlformats.org/drawingml/2006/main">
              <a:ext uri="{FF2B5EF4-FFF2-40B4-BE49-F238E27FC236}">
                <a16:creationId xmlns:a16="http://schemas.microsoft.com/office/drawing/2014/main" id="{38B39A59-8B23-4B28-AE08-336C9101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19500"/>
            <a:ext cx="18097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담당자 승인
해결 대기</a:t>
            </a:r>
          </a:p>
        </p:txBody>
      </p:sp>
      <p:sp>
        <p:nvSpPr>
          <p:cNvPr id="14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539A1ED4-C272-4CB8-85FE-DA5B7524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908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>
            <a:noFill/>
            <a:prstDash val="solid"/>
          </a:ln>
        </p:spPr>
      </p:sp>
      <p:sp>
        <p:nvSpPr>
          <p:cNvPr id="15" name="timeline-top-3">
            <a:extLst xmlns:a="http://schemas.openxmlformats.org/drawingml/2006/main">
              <a:ext uri="{FF2B5EF4-FFF2-40B4-BE49-F238E27FC236}">
                <a16:creationId xmlns:a16="http://schemas.microsoft.com/office/drawing/2014/main" id="{4897FAB4-2497-4D47-8C03-E9F2D1F0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57450"/>
            <a:ext cx="1809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Best Answer</a:t>
            </a:r>
          </a:p>
        </p:txBody>
      </p:sp>
      <p:sp>
        <p:nvSpPr>
          <p:cNvPr id="16" name="timeline-bottom-3">
            <a:extLst xmlns:a="http://schemas.openxmlformats.org/drawingml/2006/main">
              <a:ext uri="{FF2B5EF4-FFF2-40B4-BE49-F238E27FC236}">
                <a16:creationId xmlns:a16="http://schemas.microsoft.com/office/drawing/2014/main" id="{FF0990EB-A6F1-4C5A-A90B-77B46AAC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619500"/>
            <a:ext cx="18097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해결 후 해제
대화 재개</a:t>
            </a:r>
          </a:p>
        </p:txBody>
      </p:sp>
      <p:sp>
        <p:nvSpPr>
          <p:cNvPr id="17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D0726DD3-509F-4B9D-9249-14D5015F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908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84B"/>
          </a:solidFill>
          <a:ln xmlns:a="http://schemas.openxmlformats.org/drawingml/2006/main">
            <a:noFill/>
            <a:prstDash val="solid"/>
          </a:ln>
        </p:spPr>
      </p:sp>
      <p:sp>
        <p:nvSpPr>
          <p:cNvPr id="18" name="timeline-top-4">
            <a:extLst xmlns:a="http://schemas.openxmlformats.org/drawingml/2006/main">
              <a:ext uri="{FF2B5EF4-FFF2-40B4-BE49-F238E27FC236}">
                <a16:creationId xmlns:a16="http://schemas.microsoft.com/office/drawing/2014/main" id="{E3C7A3C0-29FE-47FB-BEBE-FE4C02FE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57450"/>
            <a:ext cx="1809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>
                <a:solidFill>
                  <a:srgbClr val="16784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6784B"/>
                </a:solidFill>
                <a:latin typeface="Malgun Gothic"/>
                <a:ea typeface="Malgun Gothic"/>
                <a:cs typeface="Malgun Gothic"/>
              </a:rPr>
              <a:t>재설정</a:t>
            </a:r>
          </a:p>
        </p:txBody>
      </p:sp>
      <p:sp>
        <p:nvSpPr>
          <p:cNvPr id="19" name="timeline-bottom-4">
            <a:extLst xmlns:a="http://schemas.openxmlformats.org/drawingml/2006/main">
              <a:ext uri="{FF2B5EF4-FFF2-40B4-BE49-F238E27FC236}">
                <a16:creationId xmlns:a16="http://schemas.microsoft.com/office/drawing/2014/main" id="{4A1FF375-016A-4C9B-BB03-22F764B5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19500"/>
            <a:ext cx="18097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질문자 재해결
RESOLVED</a:t>
            </a:r>
          </a:p>
        </p:txBody>
      </p:sp>
      <p:sp>
        <p:nvSpPr>
          <p:cNvPr id="20" name="timeline-result">
            <a:extLst xmlns:a="http://schemas.openxmlformats.org/drawingml/2006/main">
              <a:ext uri="{FF2B5EF4-FFF2-40B4-BE49-F238E27FC236}">
                <a16:creationId xmlns:a16="http://schemas.microsoft.com/office/drawing/2014/main" id="{CCA2A139-0491-4044-8C1A-837E62D5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276850"/>
            <a:ext cx="8115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75">
                <a:solidFill>
                  <a:srgbClr val="16784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6784B"/>
                </a:solidFill>
                <a:latin typeface="Malgun Gothic"/>
                <a:ea typeface="Malgun Gothic"/>
                <a:cs typeface="Malgun Gothic"/>
              </a:rPr>
              <a:t>최종: Draft v2 · 승인 Post #353 · 질문자가 해결</a:t>
            </a:r>
          </a:p>
        </p:txBody>
      </p:sp>
    </p:spTree>
    <p:extLst>
      <p:ext uri="{BB962C8B-B14F-4D97-AF65-F5344CB8AC3E}">
        <p14:creationId xmlns:p14="http://schemas.microsoft.com/office/powerpoint/2010/main" val="71225453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vidence-background">
            <a:extLst xmlns:a="http://schemas.openxmlformats.org/drawingml/2006/main">
              <a:ext uri="{FF2B5EF4-FFF2-40B4-BE49-F238E27FC236}">
                <a16:creationId xmlns:a16="http://schemas.microsoft.com/office/drawing/2014/main" id="{486F6707-351D-4ABE-899D-4D8337C0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E3A0BA18-4EC0-424D-8C6E-954369C7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7823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8489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60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첨부를 읽는 것보다 질문과 맞는지 판별하는 것이 먼저입니다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9C336103-3F87-4777-9DAE-2FD97F29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48400"/>
            <a:ext cx="457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75758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input-title">
            <a:extLst xmlns:a="http://schemas.openxmlformats.org/drawingml/2006/main">
              <a:ext uri="{FF2B5EF4-FFF2-40B4-BE49-F238E27FC236}">
                <a16:creationId xmlns:a16="http://schemas.microsoft.com/office/drawing/2014/main" id="{6AF6D13F-14B7-419E-B88B-3BFD3CB7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3238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후속 입력</a:t>
            </a:r>
          </a:p>
        </p:txBody>
      </p:sp>
      <p:sp>
        <p:nvSpPr>
          <p:cNvPr id="5" name="input-body">
            <a:extLst xmlns:a="http://schemas.openxmlformats.org/drawingml/2006/main">
              <a:ext uri="{FF2B5EF4-FFF2-40B4-BE49-F238E27FC236}">
                <a16:creationId xmlns:a16="http://schemas.microsoft.com/office/drawing/2014/main" id="{65B67A02-AEBA-4B2D-9A8E-53071BCE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0"/>
            <a:ext cx="3238500" cy="169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이미지 1개
ZIP 로그 1개
운영 시각·VM·게스트 상태</a:t>
            </a:r>
          </a:p>
        </p:txBody>
      </p:sp>
      <p:cxnSp>
        <p:nvCxnSpPr>
          <p:cNvPr id="18" name="evidence-divider-1"/>
          <p:cNvCxnSpPr/>
          <p:nvPr/>
        </p:nvCxnSpPr>
        <p:spPr>
          <a:xfrm xmlns:a="http://schemas.openxmlformats.org/drawingml/2006/main">
            <a:off x="4038600" y="1504950"/>
            <a:ext cx="9525" cy="37147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7" name="log-title">
            <a:extLst xmlns:a="http://schemas.openxmlformats.org/drawingml/2006/main">
              <a:ext uri="{FF2B5EF4-FFF2-40B4-BE49-F238E27FC236}">
                <a16:creationId xmlns:a16="http://schemas.microsoft.com/office/drawing/2014/main" id="{1A177B34-3DEA-49B8-B5EC-A58D95C5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19250"/>
            <a:ext cx="3238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>
                <a:solidFill>
                  <a:srgbClr val="16784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6784B"/>
                </a:solidFill>
                <a:latin typeface="Malgun Gothic"/>
                <a:ea typeface="Malgun Gothic"/>
                <a:cs typeface="Malgun Gothic"/>
              </a:rPr>
              <a:t>채택한 로그</a:t>
            </a:r>
          </a:p>
        </p:txBody>
      </p:sp>
      <p:sp>
        <p:nvSpPr>
          <p:cNvPr id="8" name="log-body">
            <a:extLst xmlns:a="http://schemas.openxmlformats.org/drawingml/2006/main">
              <a:ext uri="{FF2B5EF4-FFF2-40B4-BE49-F238E27FC236}">
                <a16:creationId xmlns:a16="http://schemas.microsoft.com/office/drawing/2014/main" id="{E11A7D77-BE47-4BBE-919D-6BB784B5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86000"/>
            <a:ext cx="3238500" cy="2038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16784B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6784B"/>
                </a:solidFill>
                <a:latin typeface="Malgun Gothic"/>
                <a:ea typeface="Malgun Gothic"/>
                <a:cs typeface="Malgun Gothic"/>
              </a:rPr>
              <a:t>still_open
waiting
guest healthy
console_only</a:t>
            </a:r>
          </a:p>
        </p:txBody>
      </p:sp>
      <p:cxnSp>
        <p:nvCxnSpPr>
          <p:cNvPr id="21" name="evidence-divider-2"/>
          <p:cNvCxnSpPr/>
          <p:nvPr/>
        </p:nvCxnSpPr>
        <p:spPr>
          <a:xfrm xmlns:a="http://schemas.openxmlformats.org/drawingml/2006/main">
            <a:off x="7886700" y="1504950"/>
            <a:ext cx="9525" cy="37147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0" name="image-title">
            <a:extLst xmlns:a="http://schemas.openxmlformats.org/drawingml/2006/main">
              <a:ext uri="{FF2B5EF4-FFF2-40B4-BE49-F238E27FC236}">
                <a16:creationId xmlns:a16="http://schemas.microsoft.com/office/drawing/2014/main" id="{A1EA585B-A85B-4E37-A26D-C21A6F3D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19250"/>
            <a:ext cx="3238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>
                <a:solidFill>
                  <a:srgbClr val="9A5B0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9A5B00"/>
                </a:solidFill>
                <a:latin typeface="Malgun Gothic"/>
                <a:ea typeface="Malgun Gothic"/>
                <a:cs typeface="Malgun Gothic"/>
              </a:rPr>
              <a:t>배제한 이미지</a:t>
            </a:r>
          </a:p>
        </p:txBody>
      </p:sp>
      <p:sp>
        <p:nvSpPr>
          <p:cNvPr id="11" name="image-body">
            <a:extLst xmlns:a="http://schemas.openxmlformats.org/drawingml/2006/main">
              <a:ext uri="{FF2B5EF4-FFF2-40B4-BE49-F238E27FC236}">
                <a16:creationId xmlns:a16="http://schemas.microsoft.com/office/drawing/2014/main" id="{463C58EA-75E2-4954-B374-59215EAA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86000"/>
            <a:ext cx="3238500" cy="2038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979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>
                <a:solidFill>
                  <a:srgbClr val="9A5B0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9A5B00"/>
                </a:solidFill>
                <a:latin typeface="Malgun Gothic"/>
                <a:ea typeface="Malgun Gothic"/>
                <a:cs typeface="Malgun Gothic"/>
              </a:rPr>
              <a:t>콘솔 화면이 아니라
다른 VM의 용량 부족 화면
질문 근거로 사용하지 않음</a:t>
            </a:r>
          </a:p>
        </p:txBody>
      </p:sp>
      <p:sp>
        <p:nvSpPr>
          <p:cNvPr id="12" name="evidence-conclusion">
            <a:extLst xmlns:a="http://schemas.openxmlformats.org/drawingml/2006/main">
              <a:ext uri="{FF2B5EF4-FFF2-40B4-BE49-F238E27FC236}">
                <a16:creationId xmlns:a16="http://schemas.microsoft.com/office/drawing/2014/main" id="{C2485EDE-0A03-4788-866F-77859490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429250"/>
            <a:ext cx="93726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025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결론: 첨부 파일의 존재가 아니라 내용의 관련성을 검증했습니다</a:t>
            </a:r>
          </a:p>
        </p:txBody>
      </p:sp>
    </p:spTree>
    <p:extLst>
      <p:ext uri="{BB962C8B-B14F-4D97-AF65-F5344CB8AC3E}">
        <p14:creationId xmlns:p14="http://schemas.microsoft.com/office/powerpoint/2010/main" val="74311277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quality-background">
            <a:extLst xmlns:a="http://schemas.openxmlformats.org/drawingml/2006/main">
              <a:ext uri="{FF2B5EF4-FFF2-40B4-BE49-F238E27FC236}">
                <a16:creationId xmlns:a16="http://schemas.microsoft.com/office/drawing/2014/main" id="{DAF3B185-CC30-4D77-9AEE-99B98040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6DFD20C7-0553-41FB-871A-90CCC137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7823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897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60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코드, 계약, 시험 서버에서 같은 완료 기준을 통과했습니다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7DB888C9-A329-492D-8EF4-B621FB92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48400"/>
            <a:ext cx="457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75758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metric-tests">
            <a:extLst xmlns:a="http://schemas.openxmlformats.org/drawingml/2006/main">
              <a:ext uri="{FF2B5EF4-FFF2-40B4-BE49-F238E27FC236}">
                <a16:creationId xmlns:a16="http://schemas.microsoft.com/office/drawing/2014/main" id="{0973E9D2-439E-424A-BDBF-79562BEC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62150"/>
            <a:ext cx="28575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540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54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196</a:t>
            </a:r>
          </a:p>
        </p:txBody>
      </p:sp>
      <p:sp>
        <p:nvSpPr>
          <p:cNvPr id="5" name="metric-tests-label">
            <a:extLst xmlns:a="http://schemas.openxmlformats.org/drawingml/2006/main">
              <a:ext uri="{FF2B5EF4-FFF2-40B4-BE49-F238E27FC236}">
                <a16:creationId xmlns:a16="http://schemas.microsoft.com/office/drawing/2014/main" id="{CA737F47-B144-4EE1-BB3D-E30A159A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2857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전체 자동화 테스트 통과</a:t>
            </a:r>
          </a:p>
        </p:txBody>
      </p:sp>
      <p:sp>
        <p:nvSpPr>
          <p:cNvPr id="6" name="metric-artifacts">
            <a:extLst xmlns:a="http://schemas.openxmlformats.org/drawingml/2006/main">
              <a:ext uri="{FF2B5EF4-FFF2-40B4-BE49-F238E27FC236}">
                <a16:creationId xmlns:a16="http://schemas.microsoft.com/office/drawing/2014/main" id="{D7DD6578-94A1-4DA1-936F-F8C9B935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62150"/>
            <a:ext cx="28575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5400">
                <a:solidFill>
                  <a:srgbClr val="16784B"/>
                </a:solidFill>
                <a:latin typeface="Malgun Gothic"/>
                <a:ea typeface="Malgun Gothic"/>
                <a:cs typeface="Malgun Gothic"/>
              </a:defRPr>
            </a:pPr>
            <a:r>
              <a:rPr sz="5400" b="1">
                <a:solidFill>
                  <a:srgbClr val="16784B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7" name="metric-artifacts-label">
            <a:extLst xmlns:a="http://schemas.openxmlformats.org/drawingml/2006/main">
              <a:ext uri="{FF2B5EF4-FFF2-40B4-BE49-F238E27FC236}">
                <a16:creationId xmlns:a16="http://schemas.microsoft.com/office/drawing/2014/main" id="{C167FCB8-DDA3-44B1-B3D5-366CA353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67050"/>
            <a:ext cx="2857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후속 Turn의 Artifact</a:t>
            </a:r>
          </a:p>
        </p:txBody>
      </p:sp>
      <p:sp>
        <p:nvSpPr>
          <p:cNvPr id="8" name="metric-protected">
            <a:extLst xmlns:a="http://schemas.openxmlformats.org/drawingml/2006/main">
              <a:ext uri="{FF2B5EF4-FFF2-40B4-BE49-F238E27FC236}">
                <a16:creationId xmlns:a16="http://schemas.microsoft.com/office/drawing/2014/main" id="{3048454E-9854-4E62-825E-6DF3BFE5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62150"/>
            <a:ext cx="28575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5400">
                <a:solidFill>
                  <a:srgbClr val="9A5B00"/>
                </a:solidFill>
                <a:latin typeface="Malgun Gothic"/>
                <a:ea typeface="Malgun Gothic"/>
                <a:cs typeface="Malgun Gothic"/>
              </a:defRPr>
            </a:pPr>
            <a:r>
              <a:rPr sz="5400" b="1">
                <a:solidFill>
                  <a:srgbClr val="9A5B00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9" name="metric-protected-label">
            <a:extLst xmlns:a="http://schemas.openxmlformats.org/drawingml/2006/main">
              <a:ext uri="{FF2B5EF4-FFF2-40B4-BE49-F238E27FC236}">
                <a16:creationId xmlns:a16="http://schemas.microsoft.com/office/drawing/2014/main" id="{3ACA3334-DF03-4050-A159-4058E200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67050"/>
            <a:ext cx="2857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보호 웹훅 변경 건수</a:t>
            </a:r>
          </a:p>
        </p:txBody>
      </p:sp>
      <p:sp>
        <p:nvSpPr>
          <p:cNvPr id="10" name="quality-band">
            <a:extLst xmlns:a="http://schemas.openxmlformats.org/drawingml/2006/main">
              <a:ext uri="{FF2B5EF4-FFF2-40B4-BE49-F238E27FC236}">
                <a16:creationId xmlns:a16="http://schemas.microsoft.com/office/drawing/2014/main" id="{8B20517C-6F66-4121-9DC7-8167FAED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48150"/>
            <a:ext cx="107061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>
            <a:noFill/>
            <a:prstDash val="solid"/>
          </a:ln>
        </p:spPr>
      </p:sp>
      <p:sp>
        <p:nvSpPr>
          <p:cNvPr id="11" name="quality-summary">
            <a:extLst xmlns:a="http://schemas.openxmlformats.org/drawingml/2006/main">
              <a:ext uri="{FF2B5EF4-FFF2-40B4-BE49-F238E27FC236}">
                <a16:creationId xmlns:a16="http://schemas.microsoft.com/office/drawing/2014/main" id="{3E08A858-7600-49CF-8F17-B1F302CF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76750"/>
            <a:ext cx="101727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75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Gateway 0.13.0 · OpenAI Provider · DB/Vector ready · Flow 3개 유효 · Poller reviewRetryFailed=0</a:t>
            </a:r>
          </a:p>
        </p:txBody>
      </p:sp>
    </p:spTree>
    <p:extLst>
      <p:ext uri="{BB962C8B-B14F-4D97-AF65-F5344CB8AC3E}">
        <p14:creationId xmlns:p14="http://schemas.microsoft.com/office/powerpoint/2010/main" val="20236213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losing-background">
            <a:extLst xmlns:a="http://schemas.openxmlformats.org/drawingml/2006/main">
              <a:ext uri="{FF2B5EF4-FFF2-40B4-BE49-F238E27FC236}">
                <a16:creationId xmlns:a16="http://schemas.microsoft.com/office/drawing/2014/main" id="{5AD35BF3-96B9-4F7B-ADF0-E75E3C4C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A26F701A-4DDE-4CCC-8C6A-6787ACEA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7823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9289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60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승인 후에도 질문자가 해결할 때까지 지원을 계속합니다</a:t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FB2CF9AB-07E7-4FB9-99AD-A96533AE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48400"/>
            <a:ext cx="457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75758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4" name="done-label">
            <a:extLst xmlns:a="http://schemas.openxmlformats.org/drawingml/2006/main">
              <a:ext uri="{FF2B5EF4-FFF2-40B4-BE49-F238E27FC236}">
                <a16:creationId xmlns:a16="http://schemas.microsoft.com/office/drawing/2014/main" id="{ECDB7F97-E716-4EBD-81DB-2539A3D7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38300"/>
            <a:ext cx="3429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>
                <a:solidFill>
                  <a:srgbClr val="16784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6784B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5" name="done-body">
            <a:extLst xmlns:a="http://schemas.openxmlformats.org/drawingml/2006/main">
              <a:ext uri="{FF2B5EF4-FFF2-40B4-BE49-F238E27FC236}">
                <a16:creationId xmlns:a16="http://schemas.microsoft.com/office/drawing/2014/main" id="{5605363E-E617-460E-8E0B-7D9AC32A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47900"/>
            <a:ext cx="4095750" cy="2266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Conversation·Turn·Response
후속 댓글·이미지·ZIP
관리자 승인·질문자 해결
해결 해제 후 자동 재개</a:t>
            </a:r>
          </a:p>
        </p:txBody>
      </p:sp>
      <p:sp>
        <p:nvSpPr>
          <p:cNvPr id="6" name="review-panel">
            <a:extLst xmlns:a="http://schemas.openxmlformats.org/drawingml/2006/main">
              <a:ext uri="{FF2B5EF4-FFF2-40B4-BE49-F238E27FC236}">
                <a16:creationId xmlns:a16="http://schemas.microsoft.com/office/drawing/2014/main" id="{3B38CD7F-A8D9-4F5F-B2A4-01762A63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504950"/>
            <a:ext cx="6191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7" name="review-title">
            <a:extLst xmlns:a="http://schemas.openxmlformats.org/drawingml/2006/main">
              <a:ext uri="{FF2B5EF4-FFF2-40B4-BE49-F238E27FC236}">
                <a16:creationId xmlns:a16="http://schemas.microsoft.com/office/drawing/2014/main" id="{D668D135-0F52-4C94-8E54-DB43F732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752600"/>
            <a:ext cx="5619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검토할 정책</a:t>
            </a:r>
          </a:p>
        </p:txBody>
      </p:sp>
      <p:sp>
        <p:nvSpPr>
          <p:cNvPr id="8" name="review-body">
            <a:extLst xmlns:a="http://schemas.openxmlformats.org/drawingml/2006/main">
              <a:ext uri="{FF2B5EF4-FFF2-40B4-BE49-F238E27FC236}">
                <a16:creationId xmlns:a16="http://schemas.microsoft.com/office/drawing/2014/main" id="{1149FFEA-42C6-4093-8BC5-4F4BD569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400300"/>
            <a:ext cx="54292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1  질문자의 Best Answer만 자동 해결
2  사용자 본문에서 내부 근거 비공개
3  답변 제목 미생성
4  적용 버전은 ABLESTACK Diplo / Europa
5  Migration Down 시 Turn 이력 삭제</a:t>
            </a:r>
          </a:p>
        </p:txBody>
      </p:sp>
      <p:sp>
        <p:nvSpPr>
          <p:cNvPr id="9" name="closing-result">
            <a:extLst xmlns:a="http://schemas.openxmlformats.org/drawingml/2006/main">
              <a:ext uri="{FF2B5EF4-FFF2-40B4-BE49-F238E27FC236}">
                <a16:creationId xmlns:a16="http://schemas.microsoft.com/office/drawing/2014/main" id="{50225DA2-8F87-4348-BDC2-FD15E16C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562600"/>
            <a:ext cx="82296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100">
                <a:solidFill>
                  <a:srgbClr val="16784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6784B"/>
                </a:solidFill>
                <a:latin typeface="Malgun Gothic"/>
                <a:ea typeface="Malgun Gothic"/>
                <a:cs typeface="Malgun Gothic"/>
              </a:rPr>
              <a:t>Issues #66-#68 구현 및 시험 서버 E2E 완료</a:t>
            </a:r>
          </a:p>
        </p:txBody>
      </p:sp>
    </p:spTree>
    <p:extLst>
      <p:ext uri="{BB962C8B-B14F-4D97-AF65-F5344CB8AC3E}">
        <p14:creationId xmlns:p14="http://schemas.microsoft.com/office/powerpoint/2010/main" val="12664196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2026-08-13T05:39:33.6300000Z</dcterms:created>
  <dcterms:modified xsi:type="dcterms:W3CDTF">2026-08-13T05:39:33.6300000Z</dcterms:modified>
</coreProperties>
</file>